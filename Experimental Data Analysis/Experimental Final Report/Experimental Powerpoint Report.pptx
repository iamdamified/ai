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700" y="886459"/>
            <a:ext cx="64008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20"/>
              <a:t>Tab</a:t>
            </a:r>
            <a:r>
              <a:rPr dirty="0" spc="-220"/>
              <a:t> </a:t>
            </a:r>
            <a:r>
              <a:rPr dirty="0" spc="-50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175" y="894588"/>
            <a:ext cx="50546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60">
                <a:solidFill>
                  <a:srgbClr val="666666"/>
                </a:solidFill>
                <a:latin typeface="Microsoft Sans Serif"/>
                <a:cs typeface="Microsoft Sans Serif"/>
              </a:rPr>
              <a:t>DATA</a:t>
            </a:r>
            <a:r>
              <a:rPr dirty="0" sz="1400" spc="-9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335">
                <a:solidFill>
                  <a:srgbClr val="666666"/>
                </a:solidFill>
                <a:latin typeface="Microsoft Sans Serif"/>
                <a:cs typeface="Microsoft Sans Serif"/>
              </a:rPr>
              <a:t>ANALYSIS</a:t>
            </a:r>
            <a:r>
              <a:rPr dirty="0" sz="1400" spc="-9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385">
                <a:solidFill>
                  <a:srgbClr val="666666"/>
                </a:solidFill>
                <a:latin typeface="Microsoft Sans Serif"/>
                <a:cs typeface="Microsoft Sans Serif"/>
              </a:rPr>
              <a:t>FOR</a:t>
            </a:r>
            <a:r>
              <a:rPr dirty="0" sz="1400" spc="-9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15">
                <a:solidFill>
                  <a:srgbClr val="666666"/>
                </a:solidFill>
                <a:latin typeface="Microsoft Sans Serif"/>
                <a:cs typeface="Microsoft Sans Serif"/>
              </a:rPr>
              <a:t>2026</a:t>
            </a:r>
            <a:r>
              <a:rPr dirty="0" sz="1400" spc="-9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380">
                <a:solidFill>
                  <a:srgbClr val="666666"/>
                </a:solidFill>
                <a:latin typeface="Microsoft Sans Serif"/>
                <a:cs typeface="Microsoft Sans Serif"/>
              </a:rPr>
              <a:t>STRATEGIC</a:t>
            </a:r>
            <a:r>
              <a:rPr dirty="0" sz="1400" spc="-9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335">
                <a:solidFill>
                  <a:srgbClr val="666666"/>
                </a:solidFill>
                <a:latin typeface="Microsoft Sans Serif"/>
                <a:cs typeface="Microsoft Sans Serif"/>
              </a:rPr>
              <a:t>PLANNING</a:t>
            </a:r>
            <a:r>
              <a:rPr dirty="0" sz="1400" spc="-9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390">
                <a:solidFill>
                  <a:srgbClr val="666666"/>
                </a:solidFill>
                <a:latin typeface="Microsoft Sans Serif"/>
                <a:cs typeface="Microsoft Sans Serif"/>
              </a:rPr>
              <a:t>BY</a:t>
            </a:r>
            <a:r>
              <a:rPr dirty="0" sz="1400" spc="-9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365">
                <a:solidFill>
                  <a:srgbClr val="666666"/>
                </a:solidFill>
                <a:latin typeface="Microsoft Sans Serif"/>
                <a:cs typeface="Microsoft Sans Serif"/>
              </a:rPr>
              <a:t>EMMANUEL</a:t>
            </a:r>
            <a:r>
              <a:rPr dirty="0" sz="1400" spc="-9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385">
                <a:solidFill>
                  <a:srgbClr val="666666"/>
                </a:solidFill>
                <a:latin typeface="Microsoft Sans Serif"/>
                <a:cs typeface="Microsoft Sans Serif"/>
              </a:rPr>
              <a:t>ADEKOYA</a:t>
            </a:r>
            <a:r>
              <a:rPr dirty="0" sz="1400" spc="-9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385">
                <a:solidFill>
                  <a:srgbClr val="666666"/>
                </a:solidFill>
                <a:latin typeface="Microsoft Sans Serif"/>
                <a:cs typeface="Microsoft Sans Serif"/>
              </a:rPr>
              <a:t>FOR</a:t>
            </a:r>
            <a:r>
              <a:rPr dirty="0" sz="1400" spc="-9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425">
                <a:solidFill>
                  <a:srgbClr val="666666"/>
                </a:solidFill>
                <a:latin typeface="Microsoft Sans Serif"/>
                <a:cs typeface="Microsoft Sans Serif"/>
              </a:rPr>
              <a:t>WESTGATE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175" y="1096009"/>
            <a:ext cx="5821680" cy="1397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050">
              <a:lnSpc>
                <a:spcPct val="100000"/>
              </a:lnSpc>
              <a:spcBef>
                <a:spcPts val="100"/>
              </a:spcBef>
            </a:pPr>
            <a:r>
              <a:rPr dirty="0" spc="-450" b="1">
                <a:latin typeface="Arial"/>
                <a:cs typeface="Arial"/>
              </a:rPr>
              <a:t>2026</a:t>
            </a:r>
            <a:r>
              <a:rPr dirty="0" spc="-260" b="1">
                <a:latin typeface="Arial"/>
                <a:cs typeface="Arial"/>
              </a:rPr>
              <a:t> </a:t>
            </a:r>
            <a:r>
              <a:rPr dirty="0" spc="-420" b="1">
                <a:latin typeface="Arial"/>
                <a:cs typeface="Arial"/>
              </a:rPr>
              <a:t>Strategic</a:t>
            </a:r>
            <a:r>
              <a:rPr dirty="0" spc="-254" b="1">
                <a:latin typeface="Arial"/>
                <a:cs typeface="Arial"/>
              </a:rPr>
              <a:t> </a:t>
            </a:r>
            <a:r>
              <a:rPr dirty="0" spc="-565" b="1">
                <a:latin typeface="Arial"/>
                <a:cs typeface="Arial"/>
              </a:rPr>
              <a:t>Growth</a:t>
            </a:r>
            <a:r>
              <a:rPr dirty="0" spc="-254" b="1">
                <a:latin typeface="Arial"/>
                <a:cs typeface="Arial"/>
              </a:rPr>
              <a:t> </a:t>
            </a:r>
            <a:r>
              <a:rPr dirty="0" spc="-520" b="1">
                <a:latin typeface="Arial"/>
                <a:cs typeface="Arial"/>
              </a:rPr>
              <a:t>C</a:t>
            </a:r>
            <a:r>
              <a:rPr dirty="0" spc="-254" b="1">
                <a:latin typeface="Arial"/>
                <a:cs typeface="Arial"/>
              </a:rPr>
              <a:t> </a:t>
            </a:r>
            <a:r>
              <a:rPr dirty="0" spc="-525" b="1">
                <a:latin typeface="Arial"/>
                <a:cs typeface="Arial"/>
              </a:rPr>
              <a:t>Performance</a:t>
            </a:r>
            <a:r>
              <a:rPr dirty="0" spc="-260" b="1">
                <a:latin typeface="Arial"/>
                <a:cs typeface="Arial"/>
              </a:rPr>
              <a:t> </a:t>
            </a:r>
            <a:r>
              <a:rPr dirty="0" spc="-560" b="1">
                <a:latin typeface="Arial"/>
                <a:cs typeface="Arial"/>
              </a:rPr>
              <a:t>Review </a:t>
            </a:r>
            <a:r>
              <a:rPr dirty="0" spc="-380"/>
              <a:t>Driving</a:t>
            </a:r>
            <a:r>
              <a:rPr dirty="0" spc="-204"/>
              <a:t> </a:t>
            </a:r>
            <a:r>
              <a:rPr dirty="0" spc="-525"/>
              <a:t>Excellence</a:t>
            </a:r>
            <a:r>
              <a:rPr dirty="0" spc="-204"/>
              <a:t> </a:t>
            </a:r>
            <a:r>
              <a:rPr dirty="0" spc="-295"/>
              <a:t>in</a:t>
            </a:r>
            <a:r>
              <a:rPr dirty="0" spc="-200"/>
              <a:t> </a:t>
            </a:r>
            <a:r>
              <a:rPr dirty="0" spc="-420"/>
              <a:t>the</a:t>
            </a:r>
            <a:r>
              <a:rPr dirty="0" spc="-204"/>
              <a:t> </a:t>
            </a:r>
            <a:r>
              <a:rPr dirty="0" spc="-345"/>
              <a:t>Printer</a:t>
            </a:r>
            <a:r>
              <a:rPr dirty="0" spc="-204"/>
              <a:t> </a:t>
            </a:r>
            <a:r>
              <a:rPr dirty="0" spc="-490"/>
              <a:t>Department</a:t>
            </a:r>
            <a:r>
              <a:rPr dirty="0" spc="-200"/>
              <a:t> </a:t>
            </a:r>
            <a:r>
              <a:rPr dirty="0" spc="-800"/>
              <a:t>G</a:t>
            </a:r>
            <a:r>
              <a:rPr dirty="0" spc="-575"/>
              <a:t> Obaakran</a:t>
            </a:r>
            <a:r>
              <a:rPr dirty="0" spc="-210"/>
              <a:t> </a:t>
            </a:r>
            <a:r>
              <a:rPr dirty="0" spc="-545"/>
              <a:t>Branch</a:t>
            </a:r>
            <a:r>
              <a:rPr dirty="0" spc="-210"/>
              <a:t> </a:t>
            </a:r>
            <a:r>
              <a:rPr dirty="0" spc="-455"/>
              <a:t>Flagship</a:t>
            </a:r>
            <a:r>
              <a:rPr dirty="0" spc="-210"/>
              <a:t> </a:t>
            </a:r>
            <a:r>
              <a:rPr dirty="0" spc="-490"/>
              <a:t>Operations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92175" y="7364221"/>
            <a:ext cx="5726430" cy="1116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latin typeface="Arial Black"/>
                <a:cs typeface="Arial Black"/>
              </a:rPr>
              <a:t>Introduction</a:t>
            </a:r>
            <a:endParaRPr sz="1600">
              <a:latin typeface="Arial Black"/>
              <a:cs typeface="Arial Black"/>
            </a:endParaRPr>
          </a:p>
          <a:p>
            <a:pPr marL="22225">
              <a:lnSpc>
                <a:spcPct val="100000"/>
              </a:lnSpc>
              <a:spcBef>
                <a:spcPts val="2200"/>
              </a:spcBef>
            </a:pPr>
            <a:r>
              <a:rPr dirty="0" sz="1100" spc="-75">
                <a:latin typeface="Arial Black"/>
                <a:cs typeface="Arial Black"/>
              </a:rPr>
              <a:t>Vision:</a:t>
            </a:r>
            <a:r>
              <a:rPr dirty="0" sz="1100" spc="-65">
                <a:latin typeface="Arial Black"/>
                <a:cs typeface="Arial Black"/>
              </a:rPr>
              <a:t> </a:t>
            </a:r>
            <a:r>
              <a:rPr dirty="0" sz="1100" spc="-120">
                <a:latin typeface="Arial Black"/>
                <a:cs typeface="Arial Black"/>
              </a:rPr>
              <a:t>To</a:t>
            </a:r>
            <a:r>
              <a:rPr dirty="0" sz="1100" spc="-65">
                <a:latin typeface="Arial Black"/>
                <a:cs typeface="Arial Black"/>
              </a:rPr>
              <a:t> </a:t>
            </a:r>
            <a:r>
              <a:rPr dirty="0" sz="1100" spc="-75">
                <a:latin typeface="Arial Black"/>
                <a:cs typeface="Arial Black"/>
              </a:rPr>
              <a:t>be</a:t>
            </a:r>
            <a:r>
              <a:rPr dirty="0" sz="1100" spc="-65">
                <a:latin typeface="Arial Black"/>
                <a:cs typeface="Arial Black"/>
              </a:rPr>
              <a:t> </a:t>
            </a:r>
            <a:r>
              <a:rPr dirty="0" sz="1100" spc="-50">
                <a:latin typeface="Arial Black"/>
                <a:cs typeface="Arial Black"/>
              </a:rPr>
              <a:t>the</a:t>
            </a:r>
            <a:r>
              <a:rPr dirty="0" sz="1100" spc="-60">
                <a:latin typeface="Arial Black"/>
                <a:cs typeface="Arial Black"/>
              </a:rPr>
              <a:t> </a:t>
            </a:r>
            <a:r>
              <a:rPr dirty="0" sz="1100" spc="-135">
                <a:latin typeface="Arial Black"/>
                <a:cs typeface="Arial Black"/>
              </a:rPr>
              <a:t>ICT</a:t>
            </a:r>
            <a:r>
              <a:rPr dirty="0" sz="1100" spc="-65">
                <a:latin typeface="Arial Black"/>
                <a:cs typeface="Arial Black"/>
              </a:rPr>
              <a:t> </a:t>
            </a:r>
            <a:r>
              <a:rPr dirty="0" sz="1100" spc="-55">
                <a:latin typeface="Arial Black"/>
                <a:cs typeface="Arial Black"/>
              </a:rPr>
              <a:t>one-</a:t>
            </a:r>
            <a:r>
              <a:rPr dirty="0" sz="1100" spc="-70">
                <a:latin typeface="Arial Black"/>
                <a:cs typeface="Arial Black"/>
              </a:rPr>
              <a:t>stop</a:t>
            </a:r>
            <a:r>
              <a:rPr dirty="0" sz="1100" spc="-65">
                <a:latin typeface="Arial Black"/>
                <a:cs typeface="Arial Black"/>
              </a:rPr>
              <a:t> </a:t>
            </a:r>
            <a:r>
              <a:rPr dirty="0" sz="1100" spc="-70">
                <a:latin typeface="Arial Black"/>
                <a:cs typeface="Arial Black"/>
              </a:rPr>
              <a:t>shop</a:t>
            </a:r>
            <a:r>
              <a:rPr dirty="0" sz="1100" spc="-60">
                <a:latin typeface="Arial Black"/>
                <a:cs typeface="Arial Black"/>
              </a:rPr>
              <a:t> </a:t>
            </a:r>
            <a:r>
              <a:rPr dirty="0" sz="1100" spc="-35">
                <a:latin typeface="Arial Black"/>
                <a:cs typeface="Arial Black"/>
              </a:rPr>
              <a:t>of</a:t>
            </a:r>
            <a:r>
              <a:rPr dirty="0" sz="1100" spc="-65">
                <a:latin typeface="Arial Black"/>
                <a:cs typeface="Arial Black"/>
              </a:rPr>
              <a:t> </a:t>
            </a:r>
            <a:r>
              <a:rPr dirty="0" sz="1100" spc="-10">
                <a:latin typeface="Arial Black"/>
                <a:cs typeface="Arial Black"/>
              </a:rPr>
              <a:t>choice.</a:t>
            </a:r>
            <a:endParaRPr sz="11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100">
              <a:latin typeface="Arial Black"/>
              <a:cs typeface="Arial Black"/>
            </a:endParaRPr>
          </a:p>
          <a:p>
            <a:pPr marL="22225">
              <a:lnSpc>
                <a:spcPct val="100000"/>
              </a:lnSpc>
            </a:pPr>
            <a:r>
              <a:rPr dirty="0" sz="1100" spc="-65">
                <a:latin typeface="Arial Black"/>
                <a:cs typeface="Arial Black"/>
              </a:rPr>
              <a:t>Mission:</a:t>
            </a:r>
            <a:r>
              <a:rPr dirty="0" sz="1100" spc="-35">
                <a:latin typeface="Arial Black"/>
                <a:cs typeface="Arial Black"/>
              </a:rPr>
              <a:t> </a:t>
            </a:r>
            <a:r>
              <a:rPr dirty="0" sz="1100" spc="-50">
                <a:latin typeface="Arial Black"/>
                <a:cs typeface="Arial Black"/>
              </a:rPr>
              <a:t>Quality</a:t>
            </a:r>
            <a:r>
              <a:rPr dirty="0" sz="1100" spc="-35">
                <a:latin typeface="Arial Black"/>
                <a:cs typeface="Arial Black"/>
              </a:rPr>
              <a:t> </a:t>
            </a:r>
            <a:r>
              <a:rPr dirty="0" sz="1100" spc="-90">
                <a:latin typeface="Arial Black"/>
                <a:cs typeface="Arial Black"/>
              </a:rPr>
              <a:t>service</a:t>
            </a:r>
            <a:r>
              <a:rPr dirty="0" sz="1100" spc="-35">
                <a:latin typeface="Arial Black"/>
                <a:cs typeface="Arial Black"/>
              </a:rPr>
              <a:t> </a:t>
            </a:r>
            <a:r>
              <a:rPr dirty="0" sz="1100" spc="-60">
                <a:latin typeface="Arial Black"/>
                <a:cs typeface="Arial Black"/>
              </a:rPr>
              <a:t>delivered</a:t>
            </a:r>
            <a:r>
              <a:rPr dirty="0" sz="1100" spc="-35">
                <a:latin typeface="Arial Black"/>
                <a:cs typeface="Arial Black"/>
              </a:rPr>
              <a:t> </a:t>
            </a:r>
            <a:r>
              <a:rPr dirty="0" sz="1100" spc="-50">
                <a:latin typeface="Arial Black"/>
                <a:cs typeface="Arial Black"/>
              </a:rPr>
              <a:t>with</a:t>
            </a:r>
            <a:r>
              <a:rPr dirty="0" sz="1100" spc="-35">
                <a:latin typeface="Arial Black"/>
                <a:cs typeface="Arial Black"/>
              </a:rPr>
              <a:t> </a:t>
            </a:r>
            <a:r>
              <a:rPr dirty="0" sz="1100" spc="-50">
                <a:latin typeface="Arial Black"/>
                <a:cs typeface="Arial Black"/>
              </a:rPr>
              <a:t>warmth,</a:t>
            </a:r>
            <a:r>
              <a:rPr dirty="0" sz="1100" spc="-35">
                <a:latin typeface="Arial Black"/>
                <a:cs typeface="Arial Black"/>
              </a:rPr>
              <a:t> </a:t>
            </a:r>
            <a:r>
              <a:rPr dirty="0" sz="1100" spc="-60">
                <a:latin typeface="Arial Black"/>
                <a:cs typeface="Arial Black"/>
              </a:rPr>
              <a:t>friendliness,</a:t>
            </a:r>
            <a:r>
              <a:rPr dirty="0" sz="1100" spc="-30">
                <a:latin typeface="Arial Black"/>
                <a:cs typeface="Arial Black"/>
              </a:rPr>
              <a:t> </a:t>
            </a:r>
            <a:r>
              <a:rPr dirty="0" sz="1100" spc="-55">
                <a:latin typeface="Arial Black"/>
                <a:cs typeface="Arial Black"/>
              </a:rPr>
              <a:t>and</a:t>
            </a:r>
            <a:r>
              <a:rPr dirty="0" sz="1100" spc="-35">
                <a:latin typeface="Arial Black"/>
                <a:cs typeface="Arial Black"/>
              </a:rPr>
              <a:t> </a:t>
            </a:r>
            <a:r>
              <a:rPr dirty="0" sz="1100" spc="-50">
                <a:latin typeface="Arial Black"/>
                <a:cs typeface="Arial Black"/>
              </a:rPr>
              <a:t>individual</a:t>
            </a:r>
            <a:r>
              <a:rPr dirty="0" sz="1100" spc="-35">
                <a:latin typeface="Arial Black"/>
                <a:cs typeface="Arial Black"/>
              </a:rPr>
              <a:t> </a:t>
            </a:r>
            <a:r>
              <a:rPr dirty="0" sz="1100" spc="-10">
                <a:latin typeface="Arial Black"/>
                <a:cs typeface="Arial Black"/>
              </a:rPr>
              <a:t>pride.</a:t>
            </a:r>
            <a:endParaRPr sz="1100">
              <a:latin typeface="Arial Black"/>
              <a:cs typeface="Arial Black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925" y="2641854"/>
            <a:ext cx="5943599" cy="381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3925" y="2905125"/>
            <a:ext cx="5934075" cy="42386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3925" y="9316212"/>
            <a:ext cx="5943599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175" y="1072895"/>
            <a:ext cx="5841365" cy="3026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0">
                <a:latin typeface="Arial Black"/>
                <a:cs typeface="Arial Black"/>
              </a:rPr>
              <a:t>Slide</a:t>
            </a:r>
            <a:r>
              <a:rPr dirty="0" sz="1300" spc="-80">
                <a:latin typeface="Arial Black"/>
                <a:cs typeface="Arial Black"/>
              </a:rPr>
              <a:t> </a:t>
            </a:r>
            <a:r>
              <a:rPr dirty="0" sz="1300" spc="-100">
                <a:latin typeface="Arial Black"/>
                <a:cs typeface="Arial Black"/>
              </a:rPr>
              <a:t>2: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105">
                <a:latin typeface="Arial Black"/>
                <a:cs typeface="Arial Black"/>
              </a:rPr>
              <a:t>Executive</a:t>
            </a:r>
            <a:r>
              <a:rPr dirty="0" sz="1300" spc="-80">
                <a:latin typeface="Arial Black"/>
                <a:cs typeface="Arial Black"/>
              </a:rPr>
              <a:t> </a:t>
            </a:r>
            <a:r>
              <a:rPr dirty="0" sz="1300" spc="-70">
                <a:latin typeface="Arial Black"/>
                <a:cs typeface="Arial Black"/>
              </a:rPr>
              <a:t>Summary</a:t>
            </a:r>
            <a:r>
              <a:rPr dirty="0" sz="1300" spc="-80">
                <a:latin typeface="Arial Black"/>
                <a:cs typeface="Arial Black"/>
              </a:rPr>
              <a:t> </a:t>
            </a:r>
            <a:r>
              <a:rPr dirty="0" sz="1300">
                <a:latin typeface="Arial Black"/>
                <a:cs typeface="Arial Black"/>
              </a:rPr>
              <a:t>–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105">
                <a:latin typeface="Arial Black"/>
                <a:cs typeface="Arial Black"/>
              </a:rPr>
              <a:t>The</a:t>
            </a:r>
            <a:r>
              <a:rPr dirty="0" sz="1300" spc="-80">
                <a:latin typeface="Arial Black"/>
                <a:cs typeface="Arial Black"/>
              </a:rPr>
              <a:t> </a:t>
            </a:r>
            <a:r>
              <a:rPr dirty="0" sz="1300" spc="-95">
                <a:latin typeface="Arial Black"/>
                <a:cs typeface="Arial Black"/>
              </a:rPr>
              <a:t>State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35">
                <a:latin typeface="Arial Black"/>
                <a:cs typeface="Arial Black"/>
              </a:rPr>
              <a:t>of</a:t>
            </a:r>
            <a:r>
              <a:rPr dirty="0" sz="1300" spc="-80">
                <a:latin typeface="Arial Black"/>
                <a:cs typeface="Arial Black"/>
              </a:rPr>
              <a:t> </a:t>
            </a:r>
            <a:r>
              <a:rPr dirty="0" sz="1300" spc="-45">
                <a:latin typeface="Arial Black"/>
                <a:cs typeface="Arial Black"/>
              </a:rPr>
              <a:t>the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10">
                <a:latin typeface="Arial Black"/>
                <a:cs typeface="Arial Black"/>
              </a:rPr>
              <a:t>Business</a:t>
            </a:r>
            <a:endParaRPr sz="1300">
              <a:latin typeface="Arial Black"/>
              <a:cs typeface="Arial Black"/>
            </a:endParaRPr>
          </a:p>
          <a:p>
            <a:pPr marL="22225" marR="528320">
              <a:lnSpc>
                <a:spcPct val="149600"/>
              </a:lnSpc>
              <a:spcBef>
                <a:spcPts val="1315"/>
              </a:spcBef>
            </a:pPr>
            <a:r>
              <a:rPr dirty="0" sz="1100" spc="-60">
                <a:latin typeface="Arial Black"/>
                <a:cs typeface="Arial Black"/>
              </a:rPr>
              <a:t>Content:</a:t>
            </a:r>
            <a:r>
              <a:rPr dirty="0" sz="1100" spc="-5">
                <a:latin typeface="Arial Black"/>
                <a:cs typeface="Arial Black"/>
              </a:rPr>
              <a:t> </a:t>
            </a:r>
            <a:r>
              <a:rPr dirty="0" sz="1100" spc="175">
                <a:latin typeface="Arial MT"/>
                <a:cs typeface="Arial MT"/>
              </a:rPr>
              <a:t>*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65">
                <a:latin typeface="Arial Black"/>
                <a:cs typeface="Arial Black"/>
              </a:rPr>
              <a:t>Overview:</a:t>
            </a:r>
            <a:r>
              <a:rPr dirty="0" sz="1100" spc="-5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2025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showed</a:t>
            </a:r>
            <a:r>
              <a:rPr dirty="0" sz="1100" spc="6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pivot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70">
                <a:latin typeface="Arial MT"/>
                <a:cs typeface="Arial MT"/>
              </a:rPr>
              <a:t>from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general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hardware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65">
                <a:latin typeface="Arial MT"/>
                <a:cs typeface="Arial MT"/>
              </a:rPr>
              <a:t>to</a:t>
            </a:r>
            <a:r>
              <a:rPr dirty="0" sz="1100" spc="6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specialized solutions.</a:t>
            </a:r>
            <a:endParaRPr sz="1100">
              <a:latin typeface="Arial MT"/>
              <a:cs typeface="Arial MT"/>
            </a:endParaRPr>
          </a:p>
          <a:p>
            <a:pPr marL="479425" marR="97790" indent="-228600">
              <a:lnSpc>
                <a:spcPct val="147700"/>
              </a:lnSpc>
              <a:spcBef>
                <a:spcPts val="1200"/>
              </a:spcBef>
              <a:buFont typeface="Tahoma"/>
              <a:buChar char="●"/>
              <a:tabLst>
                <a:tab pos="479425" algn="l"/>
              </a:tabLst>
            </a:pPr>
            <a:r>
              <a:rPr dirty="0" sz="1100" spc="-80">
                <a:latin typeface="Arial Black"/>
                <a:cs typeface="Arial Black"/>
              </a:rPr>
              <a:t>Total</a:t>
            </a:r>
            <a:r>
              <a:rPr dirty="0" sz="1100" spc="-10">
                <a:latin typeface="Arial Black"/>
                <a:cs typeface="Arial Black"/>
              </a:rPr>
              <a:t> </a:t>
            </a:r>
            <a:r>
              <a:rPr dirty="0" sz="1100" spc="-45">
                <a:latin typeface="Arial Black"/>
                <a:cs typeface="Arial Black"/>
              </a:rPr>
              <a:t>Printer</a:t>
            </a:r>
            <a:r>
              <a:rPr dirty="0" sz="1100" spc="-5">
                <a:latin typeface="Arial Black"/>
                <a:cs typeface="Arial Black"/>
              </a:rPr>
              <a:t> </a:t>
            </a:r>
            <a:r>
              <a:rPr dirty="0" sz="1100" spc="-80">
                <a:latin typeface="Arial Black"/>
                <a:cs typeface="Arial Black"/>
              </a:rPr>
              <a:t>Revenue</a:t>
            </a:r>
            <a:r>
              <a:rPr dirty="0" sz="1100" spc="-5">
                <a:latin typeface="Arial Black"/>
                <a:cs typeface="Arial Black"/>
              </a:rPr>
              <a:t> </a:t>
            </a:r>
            <a:r>
              <a:rPr dirty="0" sz="1100" spc="-60">
                <a:latin typeface="Arial Black"/>
                <a:cs typeface="Arial Black"/>
              </a:rPr>
              <a:t>Growth:</a:t>
            </a:r>
            <a:r>
              <a:rPr dirty="0" sz="1100" spc="-5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Strong</a:t>
            </a:r>
            <a:r>
              <a:rPr dirty="0" sz="1100" spc="5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upward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50">
                <a:latin typeface="Arial MT"/>
                <a:cs typeface="Arial MT"/>
              </a:rPr>
              <a:t>trend </a:t>
            </a:r>
            <a:r>
              <a:rPr dirty="0" sz="1100">
                <a:latin typeface="Arial MT"/>
                <a:cs typeface="Arial MT"/>
              </a:rPr>
              <a:t>led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by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Adepele</a:t>
            </a:r>
            <a:r>
              <a:rPr dirty="0" sz="1100" spc="5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Online sectors.</a:t>
            </a:r>
            <a:endParaRPr sz="1100">
              <a:latin typeface="Arial MT"/>
              <a:cs typeface="Arial MT"/>
            </a:endParaRPr>
          </a:p>
          <a:p>
            <a:pPr marL="479425" marR="382905" indent="-228600">
              <a:lnSpc>
                <a:spcPct val="147700"/>
              </a:lnSpc>
              <a:spcBef>
                <a:spcPts val="5"/>
              </a:spcBef>
              <a:buFont typeface="Tahoma"/>
              <a:buChar char="●"/>
              <a:tabLst>
                <a:tab pos="479425" algn="l"/>
              </a:tabLst>
            </a:pPr>
            <a:r>
              <a:rPr dirty="0" sz="1100" spc="-60">
                <a:latin typeface="Arial Black"/>
                <a:cs typeface="Arial Black"/>
              </a:rPr>
              <a:t>Obaakran</a:t>
            </a:r>
            <a:r>
              <a:rPr dirty="0" sz="1100" spc="20">
                <a:latin typeface="Arial Black"/>
                <a:cs typeface="Arial Black"/>
              </a:rPr>
              <a:t> </a:t>
            </a:r>
            <a:r>
              <a:rPr dirty="0" sz="1100" spc="-80">
                <a:latin typeface="Arial Black"/>
                <a:cs typeface="Arial Black"/>
              </a:rPr>
              <a:t>Status:</a:t>
            </a:r>
            <a:r>
              <a:rPr dirty="0" sz="1100" spc="25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Remains</a:t>
            </a:r>
            <a:r>
              <a:rPr dirty="0" sz="1100" spc="8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high-volume</a:t>
            </a:r>
            <a:r>
              <a:rPr dirty="0" sz="1100" spc="8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engine</a:t>
            </a:r>
            <a:r>
              <a:rPr dirty="0" sz="1100" spc="85">
                <a:latin typeface="Arial MT"/>
                <a:cs typeface="Arial MT"/>
              </a:rPr>
              <a:t> </a:t>
            </a:r>
            <a:r>
              <a:rPr dirty="0" sz="1100" spc="55">
                <a:latin typeface="Arial MT"/>
                <a:cs typeface="Arial MT"/>
              </a:rPr>
              <a:t>of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8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company,</a:t>
            </a:r>
            <a:r>
              <a:rPr dirty="0" sz="1100" spc="8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though </a:t>
            </a:r>
            <a:r>
              <a:rPr dirty="0" sz="1100">
                <a:latin typeface="Arial MT"/>
                <a:cs typeface="Arial MT"/>
              </a:rPr>
              <a:t>category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shifts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are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occurring.</a:t>
            </a:r>
            <a:endParaRPr sz="1100">
              <a:latin typeface="Arial MT"/>
              <a:cs typeface="Arial MT"/>
            </a:endParaRPr>
          </a:p>
          <a:p>
            <a:pPr marL="478790" indent="-227965">
              <a:lnSpc>
                <a:spcPct val="100000"/>
              </a:lnSpc>
              <a:spcBef>
                <a:spcPts val="630"/>
              </a:spcBef>
              <a:buFont typeface="Tahoma"/>
              <a:buChar char="●"/>
              <a:tabLst>
                <a:tab pos="478790" algn="l"/>
              </a:tabLst>
            </a:pPr>
            <a:r>
              <a:rPr dirty="0" sz="1100" spc="-75">
                <a:latin typeface="Arial Black"/>
                <a:cs typeface="Arial Black"/>
              </a:rPr>
              <a:t>Honest</a:t>
            </a:r>
            <a:r>
              <a:rPr dirty="0" sz="1100" spc="-40">
                <a:latin typeface="Arial Black"/>
                <a:cs typeface="Arial Black"/>
              </a:rPr>
              <a:t> </a:t>
            </a:r>
            <a:r>
              <a:rPr dirty="0" sz="1100" spc="-10">
                <a:latin typeface="Arial Black"/>
                <a:cs typeface="Arial Black"/>
              </a:rPr>
              <a:t>Assessment:</a:t>
            </a:r>
            <a:endParaRPr sz="1100">
              <a:latin typeface="Arial Black"/>
              <a:cs typeface="Arial Black"/>
            </a:endParaRPr>
          </a:p>
          <a:p>
            <a:pPr lvl="1" marL="935990" indent="-227965">
              <a:lnSpc>
                <a:spcPct val="100000"/>
              </a:lnSpc>
              <a:spcBef>
                <a:spcPts val="630"/>
              </a:spcBef>
              <a:buFont typeface="Tahoma"/>
              <a:buChar char="○"/>
              <a:tabLst>
                <a:tab pos="935990" algn="l"/>
              </a:tabLst>
            </a:pPr>
            <a:r>
              <a:rPr dirty="0" sz="1100" spc="-10" i="1">
                <a:latin typeface="Arial"/>
                <a:cs typeface="Arial"/>
              </a:rPr>
              <a:t>Working:</a:t>
            </a:r>
            <a:r>
              <a:rPr dirty="0" sz="1100" spc="40" i="1">
                <a:latin typeface="Arial"/>
                <a:cs typeface="Arial"/>
              </a:rPr>
              <a:t> </a:t>
            </a:r>
            <a:r>
              <a:rPr dirty="0" sz="1100" spc="-10">
                <a:latin typeface="Arial MT"/>
                <a:cs typeface="Arial MT"/>
              </a:rPr>
              <a:t>B2B</a:t>
            </a:r>
            <a:r>
              <a:rPr dirty="0" sz="1100" spc="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loyalty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"Tank"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system</a:t>
            </a:r>
            <a:r>
              <a:rPr dirty="0" sz="1100" spc="4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adoption.</a:t>
            </a:r>
            <a:endParaRPr sz="1100">
              <a:latin typeface="Arial MT"/>
              <a:cs typeface="Arial MT"/>
            </a:endParaRPr>
          </a:p>
          <a:p>
            <a:pPr lvl="1" marL="936625" marR="5080" indent="-228600">
              <a:lnSpc>
                <a:spcPct val="147700"/>
              </a:lnSpc>
              <a:buFont typeface="Tahoma"/>
              <a:buChar char="○"/>
              <a:tabLst>
                <a:tab pos="936625" algn="l"/>
              </a:tabLst>
            </a:pPr>
            <a:r>
              <a:rPr dirty="0" sz="1100" i="1">
                <a:latin typeface="Arial"/>
                <a:cs typeface="Arial"/>
              </a:rPr>
              <a:t>Not</a:t>
            </a:r>
            <a:r>
              <a:rPr dirty="0" sz="1100" spc="95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Working:</a:t>
            </a:r>
            <a:r>
              <a:rPr dirty="0" sz="1100" spc="95" i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Laptop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margins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Obaakran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are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tightening;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South-</a:t>
            </a:r>
            <a:r>
              <a:rPr dirty="0" sz="1100" spc="-20">
                <a:latin typeface="Arial MT"/>
                <a:cs typeface="Arial MT"/>
              </a:rPr>
              <a:t>East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 spc="40">
                <a:latin typeface="Arial MT"/>
                <a:cs typeface="Arial MT"/>
              </a:rPr>
              <a:t>printer </a:t>
            </a:r>
            <a:r>
              <a:rPr dirty="0" sz="1100" spc="-10">
                <a:latin typeface="Arial MT"/>
                <a:cs typeface="Arial MT"/>
              </a:rPr>
              <a:t>sales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(Enugu/PH)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face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supply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chain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friction.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49325" y="9363836"/>
            <a:ext cx="831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14">
                <a:latin typeface="Microsoft Sans Serif"/>
                <a:cs typeface="Microsoft Sans Serif"/>
              </a:rPr>
              <a:t>2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925" y="762762"/>
            <a:ext cx="5943599" cy="2857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925" y="9316212"/>
            <a:ext cx="5943599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20"/>
              <a:t>Tab</a:t>
            </a:r>
            <a:r>
              <a:rPr dirty="0" spc="-220"/>
              <a:t> </a:t>
            </a:r>
            <a:r>
              <a:rPr dirty="0" spc="-500"/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175" y="1022095"/>
            <a:ext cx="5877560" cy="2038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0">
                <a:latin typeface="Arial Black"/>
                <a:cs typeface="Arial Black"/>
              </a:rPr>
              <a:t>Slide</a:t>
            </a:r>
            <a:r>
              <a:rPr dirty="0" sz="1300" spc="-70">
                <a:latin typeface="Arial Black"/>
                <a:cs typeface="Arial Black"/>
              </a:rPr>
              <a:t> </a:t>
            </a:r>
            <a:r>
              <a:rPr dirty="0" sz="1300" spc="-100">
                <a:latin typeface="Arial Black"/>
                <a:cs typeface="Arial Black"/>
              </a:rPr>
              <a:t>3:</a:t>
            </a:r>
            <a:r>
              <a:rPr dirty="0" sz="1300" spc="-70">
                <a:latin typeface="Arial Black"/>
                <a:cs typeface="Arial Black"/>
              </a:rPr>
              <a:t> </a:t>
            </a:r>
            <a:r>
              <a:rPr dirty="0" sz="1300" spc="-45">
                <a:latin typeface="Arial Black"/>
                <a:cs typeface="Arial Black"/>
              </a:rPr>
              <a:t>Printer</a:t>
            </a:r>
            <a:r>
              <a:rPr dirty="0" sz="1300" spc="-70">
                <a:latin typeface="Arial Black"/>
                <a:cs typeface="Arial Black"/>
              </a:rPr>
              <a:t> </a:t>
            </a:r>
            <a:r>
              <a:rPr dirty="0" sz="1300" spc="-50">
                <a:latin typeface="Arial Black"/>
                <a:cs typeface="Arial Black"/>
              </a:rPr>
              <a:t>Department</a:t>
            </a:r>
            <a:r>
              <a:rPr dirty="0" sz="1300" spc="-70">
                <a:latin typeface="Arial Black"/>
                <a:cs typeface="Arial Black"/>
              </a:rPr>
              <a:t> </a:t>
            </a:r>
            <a:r>
              <a:rPr dirty="0" sz="1300">
                <a:latin typeface="Arial Black"/>
                <a:cs typeface="Arial Black"/>
              </a:rPr>
              <a:t>–</a:t>
            </a:r>
            <a:r>
              <a:rPr dirty="0" sz="1300" spc="-65">
                <a:latin typeface="Arial Black"/>
                <a:cs typeface="Arial Black"/>
              </a:rPr>
              <a:t> </a:t>
            </a:r>
            <a:r>
              <a:rPr dirty="0" sz="1300" spc="-55">
                <a:latin typeface="Arial Black"/>
                <a:cs typeface="Arial Black"/>
              </a:rPr>
              <a:t>National</a:t>
            </a:r>
            <a:r>
              <a:rPr dirty="0" sz="1300" spc="-70">
                <a:latin typeface="Arial Black"/>
                <a:cs typeface="Arial Black"/>
              </a:rPr>
              <a:t> Performance </a:t>
            </a:r>
            <a:r>
              <a:rPr dirty="0" sz="1300" spc="-10">
                <a:latin typeface="Arial Black"/>
                <a:cs typeface="Arial Black"/>
              </a:rPr>
              <a:t>Overview</a:t>
            </a:r>
            <a:endParaRPr sz="13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300">
              <a:latin typeface="Arial Black"/>
              <a:cs typeface="Arial Black"/>
            </a:endParaRPr>
          </a:p>
          <a:p>
            <a:pPr marL="22225">
              <a:lnSpc>
                <a:spcPct val="100000"/>
              </a:lnSpc>
              <a:spcBef>
                <a:spcPts val="5"/>
              </a:spcBef>
            </a:pPr>
            <a:r>
              <a:rPr dirty="0" sz="1100" spc="-75">
                <a:latin typeface="Arial Black"/>
                <a:cs typeface="Arial Black"/>
              </a:rPr>
              <a:t>Visual:</a:t>
            </a:r>
            <a:r>
              <a:rPr dirty="0" sz="1100" spc="-85">
                <a:latin typeface="Arial Black"/>
                <a:cs typeface="Arial Black"/>
              </a:rPr>
              <a:t> </a:t>
            </a:r>
            <a:r>
              <a:rPr dirty="0" sz="1100" spc="-25" i="1">
                <a:latin typeface="Arial"/>
                <a:cs typeface="Arial"/>
              </a:rPr>
              <a:t>Clustered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Column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Chart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spc="-20" i="1">
                <a:latin typeface="Arial"/>
                <a:cs typeface="Arial"/>
              </a:rPr>
              <a:t>(2024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spc="-65" i="1">
                <a:latin typeface="Arial"/>
                <a:cs typeface="Arial"/>
              </a:rPr>
              <a:t>vs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spc="-20" i="1">
                <a:latin typeface="Arial"/>
                <a:cs typeface="Arial"/>
              </a:rPr>
              <a:t>2025)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60">
                <a:latin typeface="Arial Black"/>
                <a:cs typeface="Arial Black"/>
              </a:rPr>
              <a:t>Data</a:t>
            </a:r>
            <a:r>
              <a:rPr dirty="0" sz="1100" spc="-85">
                <a:latin typeface="Arial Black"/>
                <a:cs typeface="Arial Black"/>
              </a:rPr>
              <a:t> </a:t>
            </a:r>
            <a:r>
              <a:rPr dirty="0" sz="1100" spc="-10">
                <a:latin typeface="Arial Black"/>
                <a:cs typeface="Arial Black"/>
              </a:rPr>
              <a:t>Points:</a:t>
            </a:r>
            <a:endParaRPr sz="11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100">
              <a:latin typeface="Arial Black"/>
              <a:cs typeface="Arial Black"/>
            </a:endParaRPr>
          </a:p>
          <a:p>
            <a:pPr marL="478790" indent="-227965">
              <a:lnSpc>
                <a:spcPct val="100000"/>
              </a:lnSpc>
              <a:buFont typeface="Tahoma"/>
              <a:buChar char="●"/>
              <a:tabLst>
                <a:tab pos="478790" algn="l"/>
              </a:tabLst>
            </a:pPr>
            <a:r>
              <a:rPr dirty="0" sz="1100" spc="-75">
                <a:latin typeface="Arial Black"/>
                <a:cs typeface="Arial Black"/>
              </a:rPr>
              <a:t>Adepele:</a:t>
            </a:r>
            <a:r>
              <a:rPr dirty="0" sz="1100" spc="-15">
                <a:latin typeface="Arial Black"/>
                <a:cs typeface="Arial Black"/>
              </a:rPr>
              <a:t> </a:t>
            </a:r>
            <a:r>
              <a:rPr dirty="0" sz="1100">
                <a:latin typeface="Tahoma"/>
                <a:cs typeface="Tahoma"/>
              </a:rPr>
              <a:t>₦</a:t>
            </a:r>
            <a:r>
              <a:rPr dirty="0" sz="1100">
                <a:latin typeface="Arial MT"/>
                <a:cs typeface="Arial MT"/>
              </a:rPr>
              <a:t>138.1M</a:t>
            </a:r>
            <a:r>
              <a:rPr dirty="0" sz="1100" spc="50">
                <a:latin typeface="Arial MT"/>
                <a:cs typeface="Arial MT"/>
              </a:rPr>
              <a:t> </a:t>
            </a:r>
            <a:r>
              <a:rPr dirty="0" sz="1100">
                <a:latin typeface="Tahoma"/>
                <a:cs typeface="Tahoma"/>
              </a:rPr>
              <a:t>→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₦</a:t>
            </a:r>
            <a:r>
              <a:rPr dirty="0" sz="1100">
                <a:latin typeface="Arial MT"/>
                <a:cs typeface="Arial MT"/>
              </a:rPr>
              <a:t>223.3M</a:t>
            </a:r>
            <a:r>
              <a:rPr dirty="0" sz="1100" spc="5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(</a:t>
            </a:r>
            <a:r>
              <a:rPr dirty="0" sz="1100" spc="-10">
                <a:latin typeface="Arial Black"/>
                <a:cs typeface="Arial Black"/>
              </a:rPr>
              <a:t>+61.7%</a:t>
            </a:r>
            <a:r>
              <a:rPr dirty="0" sz="1100" spc="-1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478790" indent="-227965">
              <a:lnSpc>
                <a:spcPct val="100000"/>
              </a:lnSpc>
              <a:spcBef>
                <a:spcPts val="630"/>
              </a:spcBef>
              <a:buFont typeface="Tahoma"/>
              <a:buChar char="●"/>
              <a:tabLst>
                <a:tab pos="478790" algn="l"/>
              </a:tabLst>
            </a:pPr>
            <a:r>
              <a:rPr dirty="0" sz="1100" spc="-50">
                <a:latin typeface="Arial Black"/>
                <a:cs typeface="Arial Black"/>
              </a:rPr>
              <a:t>Online:</a:t>
            </a:r>
            <a:r>
              <a:rPr dirty="0" sz="1100" spc="-15">
                <a:latin typeface="Arial Black"/>
                <a:cs typeface="Arial Black"/>
              </a:rPr>
              <a:t> </a:t>
            </a:r>
            <a:r>
              <a:rPr dirty="0" sz="1100">
                <a:latin typeface="Tahoma"/>
                <a:cs typeface="Tahoma"/>
              </a:rPr>
              <a:t>₦</a:t>
            </a:r>
            <a:r>
              <a:rPr dirty="0" sz="1100">
                <a:latin typeface="Arial MT"/>
                <a:cs typeface="Arial MT"/>
              </a:rPr>
              <a:t>12.1M</a:t>
            </a:r>
            <a:r>
              <a:rPr dirty="0" sz="1100" spc="50">
                <a:latin typeface="Arial MT"/>
                <a:cs typeface="Arial MT"/>
              </a:rPr>
              <a:t> </a:t>
            </a:r>
            <a:r>
              <a:rPr dirty="0" sz="1100">
                <a:latin typeface="Tahoma"/>
                <a:cs typeface="Tahoma"/>
              </a:rPr>
              <a:t>→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₦</a:t>
            </a:r>
            <a:r>
              <a:rPr dirty="0" sz="1100">
                <a:latin typeface="Arial MT"/>
                <a:cs typeface="Arial MT"/>
              </a:rPr>
              <a:t>18.5M</a:t>
            </a:r>
            <a:r>
              <a:rPr dirty="0" sz="1100" spc="5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(</a:t>
            </a:r>
            <a:r>
              <a:rPr dirty="0" sz="1100" spc="-10">
                <a:latin typeface="Arial Black"/>
                <a:cs typeface="Arial Black"/>
              </a:rPr>
              <a:t>+52.4%</a:t>
            </a:r>
            <a:r>
              <a:rPr dirty="0" sz="1100" spc="-1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478790" indent="-227965">
              <a:lnSpc>
                <a:spcPct val="100000"/>
              </a:lnSpc>
              <a:spcBef>
                <a:spcPts val="630"/>
              </a:spcBef>
              <a:buFont typeface="Tahoma"/>
              <a:buChar char="●"/>
              <a:tabLst>
                <a:tab pos="478790" algn="l"/>
              </a:tabLst>
            </a:pPr>
            <a:r>
              <a:rPr dirty="0" sz="1100" spc="-110">
                <a:latin typeface="Arial Black"/>
                <a:cs typeface="Arial Black"/>
              </a:rPr>
              <a:t>B2B:</a:t>
            </a:r>
            <a:r>
              <a:rPr dirty="0" sz="1100" spc="-15">
                <a:latin typeface="Arial Black"/>
                <a:cs typeface="Arial Black"/>
              </a:rPr>
              <a:t> </a:t>
            </a:r>
            <a:r>
              <a:rPr dirty="0" sz="1100">
                <a:latin typeface="Tahoma"/>
                <a:cs typeface="Tahoma"/>
              </a:rPr>
              <a:t>₦</a:t>
            </a:r>
            <a:r>
              <a:rPr dirty="0" sz="1100">
                <a:latin typeface="Arial MT"/>
                <a:cs typeface="Arial MT"/>
              </a:rPr>
              <a:t>114.2M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>
                <a:latin typeface="Tahoma"/>
                <a:cs typeface="Tahoma"/>
              </a:rPr>
              <a:t>→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₦</a:t>
            </a:r>
            <a:r>
              <a:rPr dirty="0" sz="1100">
                <a:latin typeface="Arial MT"/>
                <a:cs typeface="Arial MT"/>
              </a:rPr>
              <a:t>155.4M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(</a:t>
            </a:r>
            <a:r>
              <a:rPr dirty="0" sz="1100" spc="-10">
                <a:latin typeface="Arial Black"/>
                <a:cs typeface="Arial Black"/>
              </a:rPr>
              <a:t>+36.1%</a:t>
            </a:r>
            <a:r>
              <a:rPr dirty="0" sz="1100" spc="-1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479425" marR="5080" indent="-228600">
              <a:lnSpc>
                <a:spcPct val="147700"/>
              </a:lnSpc>
              <a:buFont typeface="Tahoma"/>
              <a:buChar char="●"/>
              <a:tabLst>
                <a:tab pos="479425" algn="l"/>
              </a:tabLst>
            </a:pPr>
            <a:r>
              <a:rPr dirty="0" sz="1100" spc="-55">
                <a:latin typeface="Arial Black"/>
                <a:cs typeface="Arial Black"/>
              </a:rPr>
              <a:t>Underperformers:</a:t>
            </a:r>
            <a:r>
              <a:rPr dirty="0" sz="1100" spc="80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Enugu</a:t>
            </a:r>
            <a:r>
              <a:rPr dirty="0" sz="1100" spc="1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1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P/Harcourt</a:t>
            </a:r>
            <a:r>
              <a:rPr dirty="0" sz="1100" spc="1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(Needs</a:t>
            </a:r>
            <a:r>
              <a:rPr dirty="0" sz="1100" spc="1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immediate</a:t>
            </a:r>
            <a:r>
              <a:rPr dirty="0" sz="1100" spc="1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tactical</a:t>
            </a:r>
            <a:r>
              <a:rPr dirty="0" sz="1100" spc="1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support).</a:t>
            </a:r>
            <a:r>
              <a:rPr dirty="0" sz="1100" spc="140">
                <a:latin typeface="Arial MT"/>
                <a:cs typeface="Arial MT"/>
              </a:rPr>
              <a:t> </a:t>
            </a:r>
            <a:r>
              <a:rPr dirty="0" sz="1100" spc="-25">
                <a:latin typeface="Arial Black"/>
                <a:cs typeface="Arial Black"/>
              </a:rPr>
              <a:t>Key </a:t>
            </a:r>
            <a:r>
              <a:rPr dirty="0" sz="1100" spc="-95">
                <a:latin typeface="Arial Black"/>
                <a:cs typeface="Arial Black"/>
              </a:rPr>
              <a:t>Takeaway:</a:t>
            </a:r>
            <a:r>
              <a:rPr dirty="0" sz="1100" spc="60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Growth</a:t>
            </a:r>
            <a:r>
              <a:rPr dirty="0" sz="1100" spc="1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1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centralizing</a:t>
            </a:r>
            <a:r>
              <a:rPr dirty="0" sz="1100" spc="1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1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high-efficiency</a:t>
            </a:r>
            <a:r>
              <a:rPr dirty="0" sz="1100" spc="1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hubs</a:t>
            </a:r>
            <a:r>
              <a:rPr dirty="0" sz="1100" spc="1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1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digital</a:t>
            </a:r>
            <a:r>
              <a:rPr dirty="0" sz="1100" spc="1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channels.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925" y="3305175"/>
            <a:ext cx="5943600" cy="3933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3219" y="1150203"/>
            <a:ext cx="6395764" cy="54824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20"/>
              <a:t>Tab</a:t>
            </a:r>
            <a:r>
              <a:rPr dirty="0" spc="-220"/>
              <a:t> </a:t>
            </a:r>
            <a:r>
              <a:rPr dirty="0" spc="-500"/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175" y="1022095"/>
            <a:ext cx="5729605" cy="2534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0">
                <a:latin typeface="Arial Black"/>
                <a:cs typeface="Arial Black"/>
              </a:rPr>
              <a:t>Slide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100">
                <a:latin typeface="Arial Black"/>
                <a:cs typeface="Arial Black"/>
              </a:rPr>
              <a:t>4: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45">
                <a:latin typeface="Arial Black"/>
                <a:cs typeface="Arial Black"/>
              </a:rPr>
              <a:t>Printer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50">
                <a:latin typeface="Arial Black"/>
                <a:cs typeface="Arial Black"/>
              </a:rPr>
              <a:t>Department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>
                <a:latin typeface="Arial Black"/>
                <a:cs typeface="Arial Black"/>
              </a:rPr>
              <a:t>–</a:t>
            </a:r>
            <a:r>
              <a:rPr dirty="0" sz="1300" spc="-70">
                <a:latin typeface="Arial Black"/>
                <a:cs typeface="Arial Black"/>
              </a:rPr>
              <a:t> </a:t>
            </a:r>
            <a:r>
              <a:rPr dirty="0" sz="1300" spc="-85">
                <a:latin typeface="Arial Black"/>
                <a:cs typeface="Arial Black"/>
              </a:rPr>
              <a:t>Strategy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114">
                <a:latin typeface="Arial Black"/>
                <a:cs typeface="Arial Black"/>
              </a:rPr>
              <a:t>Reset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10">
                <a:latin typeface="Arial Black"/>
                <a:cs typeface="Arial Black"/>
              </a:rPr>
              <a:t>Workshop</a:t>
            </a:r>
            <a:endParaRPr sz="1300">
              <a:latin typeface="Arial Black"/>
              <a:cs typeface="Arial Black"/>
            </a:endParaRPr>
          </a:p>
          <a:p>
            <a:pPr marL="22225" marR="351790">
              <a:lnSpc>
                <a:spcPct val="149600"/>
              </a:lnSpc>
              <a:spcBef>
                <a:spcPts val="1340"/>
              </a:spcBef>
            </a:pPr>
            <a:r>
              <a:rPr dirty="0" sz="1100" spc="-75">
                <a:latin typeface="Arial Black"/>
                <a:cs typeface="Arial Black"/>
              </a:rPr>
              <a:t>Visual:</a:t>
            </a:r>
            <a:r>
              <a:rPr dirty="0" sz="1100" spc="40">
                <a:latin typeface="Arial Black"/>
                <a:cs typeface="Arial Black"/>
              </a:rPr>
              <a:t> </a:t>
            </a:r>
            <a:r>
              <a:rPr dirty="0" sz="1100" spc="-130" i="1">
                <a:latin typeface="Arial"/>
                <a:cs typeface="Arial"/>
              </a:rPr>
              <a:t>SWOT</a:t>
            </a:r>
            <a:r>
              <a:rPr dirty="0" sz="1100" spc="10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Matrix</a:t>
            </a:r>
            <a:r>
              <a:rPr dirty="0" sz="1100" spc="105" i="1">
                <a:latin typeface="Arial"/>
                <a:cs typeface="Arial"/>
              </a:rPr>
              <a:t> </a:t>
            </a:r>
            <a:r>
              <a:rPr dirty="0" sz="1100" spc="175">
                <a:latin typeface="Arial MT"/>
                <a:cs typeface="Arial MT"/>
              </a:rPr>
              <a:t>*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 spc="-75">
                <a:latin typeface="Arial Black"/>
                <a:cs typeface="Arial Black"/>
              </a:rPr>
              <a:t>Strengths:</a:t>
            </a:r>
            <a:r>
              <a:rPr dirty="0" sz="1100" spc="45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Authorized</a:t>
            </a:r>
            <a:r>
              <a:rPr dirty="0" sz="1100" spc="10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dealership</a:t>
            </a:r>
            <a:r>
              <a:rPr dirty="0" sz="1100" spc="10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status;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15-</a:t>
            </a:r>
            <a:r>
              <a:rPr dirty="0" sz="1100">
                <a:latin typeface="Arial MT"/>
                <a:cs typeface="Arial MT"/>
              </a:rPr>
              <a:t>branch</a:t>
            </a:r>
            <a:r>
              <a:rPr dirty="0" sz="1100" spc="105">
                <a:latin typeface="Arial MT"/>
                <a:cs typeface="Arial MT"/>
              </a:rPr>
              <a:t> </a:t>
            </a:r>
            <a:r>
              <a:rPr dirty="0" sz="1100" spc="35">
                <a:latin typeface="Arial MT"/>
                <a:cs typeface="Arial MT"/>
              </a:rPr>
              <a:t>support </a:t>
            </a:r>
            <a:r>
              <a:rPr dirty="0" sz="1100" spc="-10">
                <a:latin typeface="Arial MT"/>
                <a:cs typeface="Arial MT"/>
              </a:rPr>
              <a:t>network.</a:t>
            </a:r>
            <a:endParaRPr sz="1100">
              <a:latin typeface="Arial MT"/>
              <a:cs typeface="Arial MT"/>
            </a:endParaRPr>
          </a:p>
          <a:p>
            <a:pPr marL="479425" marR="242570" indent="-228600">
              <a:lnSpc>
                <a:spcPct val="147700"/>
              </a:lnSpc>
              <a:spcBef>
                <a:spcPts val="1200"/>
              </a:spcBef>
              <a:buFont typeface="Tahoma"/>
              <a:buChar char="●"/>
              <a:tabLst>
                <a:tab pos="479425" algn="l"/>
              </a:tabLst>
            </a:pPr>
            <a:r>
              <a:rPr dirty="0" sz="1100" spc="-95">
                <a:latin typeface="Arial Black"/>
                <a:cs typeface="Arial Black"/>
              </a:rPr>
              <a:t>Weaknesses: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Consumable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"Leakage"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(Customers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buy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printers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 spc="65">
                <a:latin typeface="Arial MT"/>
                <a:cs typeface="Arial MT"/>
              </a:rPr>
              <a:t>but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source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ink </a:t>
            </a:r>
            <a:r>
              <a:rPr dirty="0" sz="1100" spc="-10">
                <a:latin typeface="Arial MT"/>
                <a:cs typeface="Arial MT"/>
              </a:rPr>
              <a:t>elsewhere).</a:t>
            </a:r>
            <a:endParaRPr sz="1100">
              <a:latin typeface="Arial MT"/>
              <a:cs typeface="Arial MT"/>
            </a:endParaRPr>
          </a:p>
          <a:p>
            <a:pPr marL="479425" marR="187325" indent="-228600">
              <a:lnSpc>
                <a:spcPct val="147700"/>
              </a:lnSpc>
              <a:spcBef>
                <a:spcPts val="5"/>
              </a:spcBef>
              <a:buFont typeface="Tahoma"/>
              <a:buChar char="●"/>
              <a:tabLst>
                <a:tab pos="479425" algn="l"/>
              </a:tabLst>
            </a:pPr>
            <a:r>
              <a:rPr dirty="0" sz="1100" spc="-50">
                <a:latin typeface="Arial Black"/>
                <a:cs typeface="Arial Black"/>
              </a:rPr>
              <a:t>Opportunities:</a:t>
            </a:r>
            <a:r>
              <a:rPr dirty="0" sz="1100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Managed</a:t>
            </a:r>
            <a:r>
              <a:rPr dirty="0" sz="1100" spc="6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Print</a:t>
            </a:r>
            <a:r>
              <a:rPr dirty="0" sz="1100" spc="6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Services</a:t>
            </a:r>
            <a:r>
              <a:rPr dirty="0" sz="1100" spc="6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(MPS)</a:t>
            </a:r>
            <a:r>
              <a:rPr dirty="0" sz="1100" spc="60">
                <a:latin typeface="Arial MT"/>
                <a:cs typeface="Arial MT"/>
              </a:rPr>
              <a:t> </a:t>
            </a:r>
            <a:r>
              <a:rPr dirty="0" sz="1100" spc="65">
                <a:latin typeface="Arial MT"/>
                <a:cs typeface="Arial MT"/>
              </a:rPr>
              <a:t>for</a:t>
            </a:r>
            <a:r>
              <a:rPr dirty="0" sz="1100" spc="6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B2B;</a:t>
            </a:r>
            <a:r>
              <a:rPr dirty="0" sz="1100" spc="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Subscription-based</a:t>
            </a:r>
            <a:r>
              <a:rPr dirty="0" sz="1100" spc="6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ink </a:t>
            </a:r>
            <a:r>
              <a:rPr dirty="0" sz="1100" spc="-10">
                <a:latin typeface="Arial MT"/>
                <a:cs typeface="Arial MT"/>
              </a:rPr>
              <a:t>replenishment.</a:t>
            </a:r>
            <a:endParaRPr sz="1100">
              <a:latin typeface="Arial MT"/>
              <a:cs typeface="Arial MT"/>
            </a:endParaRPr>
          </a:p>
          <a:p>
            <a:pPr marL="479425" marR="5080" indent="-228600">
              <a:lnSpc>
                <a:spcPct val="147700"/>
              </a:lnSpc>
              <a:buFont typeface="Tahoma"/>
              <a:buChar char="●"/>
              <a:tabLst>
                <a:tab pos="479425" algn="l"/>
              </a:tabLst>
            </a:pPr>
            <a:r>
              <a:rPr dirty="0" sz="1100" spc="-50">
                <a:latin typeface="Arial Black"/>
                <a:cs typeface="Arial Black"/>
              </a:rPr>
              <a:t>Market</a:t>
            </a:r>
            <a:r>
              <a:rPr dirty="0" sz="1100" spc="5">
                <a:latin typeface="Arial Black"/>
                <a:cs typeface="Arial Black"/>
              </a:rPr>
              <a:t> </a:t>
            </a:r>
            <a:r>
              <a:rPr dirty="0" sz="1100" spc="-65">
                <a:latin typeface="Arial Black"/>
                <a:cs typeface="Arial Black"/>
              </a:rPr>
              <a:t>Insight:</a:t>
            </a:r>
            <a:r>
              <a:rPr dirty="0" sz="1100" spc="5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Customers</a:t>
            </a:r>
            <a:r>
              <a:rPr dirty="0" sz="1100" spc="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are</a:t>
            </a:r>
            <a:r>
              <a:rPr dirty="0" sz="1100" spc="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prioritizing</a:t>
            </a:r>
            <a:r>
              <a:rPr dirty="0" sz="1100" spc="65">
                <a:latin typeface="Arial MT"/>
                <a:cs typeface="Arial MT"/>
              </a:rPr>
              <a:t> </a:t>
            </a:r>
            <a:r>
              <a:rPr dirty="0" sz="1100" spc="-80">
                <a:latin typeface="Arial Black"/>
                <a:cs typeface="Arial Black"/>
              </a:rPr>
              <a:t>Total</a:t>
            </a:r>
            <a:r>
              <a:rPr dirty="0" sz="1100" spc="5">
                <a:latin typeface="Arial Black"/>
                <a:cs typeface="Arial Black"/>
              </a:rPr>
              <a:t> </a:t>
            </a:r>
            <a:r>
              <a:rPr dirty="0" sz="1100" spc="-100">
                <a:latin typeface="Arial Black"/>
                <a:cs typeface="Arial Black"/>
              </a:rPr>
              <a:t>Cost</a:t>
            </a:r>
            <a:r>
              <a:rPr dirty="0" sz="1100" spc="10">
                <a:latin typeface="Arial Black"/>
                <a:cs typeface="Arial Black"/>
              </a:rPr>
              <a:t> </a:t>
            </a:r>
            <a:r>
              <a:rPr dirty="0" sz="1100" spc="-35">
                <a:latin typeface="Arial Black"/>
                <a:cs typeface="Arial Black"/>
              </a:rPr>
              <a:t>of</a:t>
            </a:r>
            <a:r>
              <a:rPr dirty="0" sz="1100" spc="5">
                <a:latin typeface="Arial Black"/>
                <a:cs typeface="Arial Black"/>
              </a:rPr>
              <a:t> </a:t>
            </a:r>
            <a:r>
              <a:rPr dirty="0" sz="1100" spc="-60">
                <a:latin typeface="Arial Black"/>
                <a:cs typeface="Arial Black"/>
              </a:rPr>
              <a:t>Ownership</a:t>
            </a:r>
            <a:r>
              <a:rPr dirty="0" sz="1100" spc="5">
                <a:latin typeface="Arial Black"/>
                <a:cs typeface="Arial Black"/>
              </a:rPr>
              <a:t> </a:t>
            </a:r>
            <a:r>
              <a:rPr dirty="0" sz="1100" spc="-105">
                <a:latin typeface="Arial Black"/>
                <a:cs typeface="Arial Black"/>
              </a:rPr>
              <a:t>(TCO)</a:t>
            </a:r>
            <a:r>
              <a:rPr dirty="0" sz="1100" spc="5">
                <a:latin typeface="Arial Black"/>
                <a:cs typeface="Arial Black"/>
              </a:rPr>
              <a:t> </a:t>
            </a:r>
            <a:r>
              <a:rPr dirty="0" sz="1100" spc="-20">
                <a:latin typeface="Arial MT"/>
                <a:cs typeface="Arial MT"/>
              </a:rPr>
              <a:t>over </a:t>
            </a:r>
            <a:r>
              <a:rPr dirty="0" sz="1100">
                <a:latin typeface="Arial MT"/>
                <a:cs typeface="Arial MT"/>
              </a:rPr>
              <a:t>initial</a:t>
            </a:r>
            <a:r>
              <a:rPr dirty="0" sz="1100" spc="17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purchase</a:t>
            </a:r>
            <a:r>
              <a:rPr dirty="0" sz="1100" spc="17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price.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20"/>
              <a:t>Tab</a:t>
            </a:r>
            <a:r>
              <a:rPr dirty="0" spc="-220"/>
              <a:t> </a:t>
            </a:r>
            <a:r>
              <a:rPr dirty="0" spc="-500"/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175" y="1022095"/>
            <a:ext cx="5798820" cy="3029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0">
                <a:latin typeface="Arial Black"/>
                <a:cs typeface="Arial Black"/>
              </a:rPr>
              <a:t>Slide</a:t>
            </a:r>
            <a:r>
              <a:rPr dirty="0" sz="1300" spc="-80">
                <a:latin typeface="Arial Black"/>
                <a:cs typeface="Arial Black"/>
              </a:rPr>
              <a:t> </a:t>
            </a:r>
            <a:r>
              <a:rPr dirty="0" sz="1300" spc="-100">
                <a:latin typeface="Arial Black"/>
                <a:cs typeface="Arial Black"/>
              </a:rPr>
              <a:t>5:</a:t>
            </a:r>
            <a:r>
              <a:rPr dirty="0" sz="1300" spc="-80">
                <a:latin typeface="Arial Black"/>
                <a:cs typeface="Arial Black"/>
              </a:rPr>
              <a:t> </a:t>
            </a:r>
            <a:r>
              <a:rPr dirty="0" sz="1300" spc="-45">
                <a:latin typeface="Arial Black"/>
                <a:cs typeface="Arial Black"/>
              </a:rPr>
              <a:t>Printer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50">
                <a:latin typeface="Arial Black"/>
                <a:cs typeface="Arial Black"/>
              </a:rPr>
              <a:t>Department</a:t>
            </a:r>
            <a:r>
              <a:rPr dirty="0" sz="1300" spc="-80">
                <a:latin typeface="Arial Black"/>
                <a:cs typeface="Arial Black"/>
              </a:rPr>
              <a:t> </a:t>
            </a:r>
            <a:r>
              <a:rPr dirty="0" sz="1300">
                <a:latin typeface="Arial Black"/>
                <a:cs typeface="Arial Black"/>
              </a:rPr>
              <a:t>–</a:t>
            </a:r>
            <a:r>
              <a:rPr dirty="0" sz="1300" spc="-80">
                <a:latin typeface="Arial Black"/>
                <a:cs typeface="Arial Black"/>
              </a:rPr>
              <a:t> </a:t>
            </a:r>
            <a:r>
              <a:rPr dirty="0" sz="1300" spc="-130">
                <a:latin typeface="Arial Black"/>
                <a:cs typeface="Arial Black"/>
              </a:rPr>
              <a:t>2026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10">
                <a:latin typeface="Arial Black"/>
                <a:cs typeface="Arial Black"/>
              </a:rPr>
              <a:t>Roadmap</a:t>
            </a:r>
            <a:endParaRPr sz="13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300">
              <a:latin typeface="Arial Black"/>
              <a:cs typeface="Arial Black"/>
            </a:endParaRPr>
          </a:p>
          <a:p>
            <a:pPr marL="22225">
              <a:lnSpc>
                <a:spcPct val="100000"/>
              </a:lnSpc>
              <a:spcBef>
                <a:spcPts val="5"/>
              </a:spcBef>
            </a:pPr>
            <a:r>
              <a:rPr dirty="0" sz="1100" spc="-10">
                <a:latin typeface="Arial Black"/>
                <a:cs typeface="Arial Black"/>
              </a:rPr>
              <a:t>Content:</a:t>
            </a:r>
            <a:endParaRPr sz="11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100">
              <a:latin typeface="Arial Black"/>
              <a:cs typeface="Arial Black"/>
            </a:endParaRPr>
          </a:p>
          <a:p>
            <a:pPr marL="478790" indent="-227965">
              <a:lnSpc>
                <a:spcPct val="100000"/>
              </a:lnSpc>
              <a:buFont typeface="Tahoma"/>
              <a:buChar char="●"/>
              <a:tabLst>
                <a:tab pos="478790" algn="l"/>
              </a:tabLst>
            </a:pPr>
            <a:r>
              <a:rPr dirty="0" sz="1100" spc="-120">
                <a:latin typeface="Arial Black"/>
                <a:cs typeface="Arial Black"/>
              </a:rPr>
              <a:t>2026</a:t>
            </a:r>
            <a:r>
              <a:rPr dirty="0" sz="1100" spc="15">
                <a:latin typeface="Arial Black"/>
                <a:cs typeface="Arial Black"/>
              </a:rPr>
              <a:t> </a:t>
            </a:r>
            <a:r>
              <a:rPr dirty="0" sz="1100" spc="-80">
                <a:latin typeface="Arial Black"/>
                <a:cs typeface="Arial Black"/>
              </a:rPr>
              <a:t>Strategy:</a:t>
            </a:r>
            <a:r>
              <a:rPr dirty="0" sz="1100" spc="20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Transition</a:t>
            </a:r>
            <a:r>
              <a:rPr dirty="0" sz="1100" spc="75">
                <a:latin typeface="Arial MT"/>
                <a:cs typeface="Arial MT"/>
              </a:rPr>
              <a:t> </a:t>
            </a:r>
            <a:r>
              <a:rPr dirty="0" sz="1100" spc="70">
                <a:latin typeface="Arial MT"/>
                <a:cs typeface="Arial MT"/>
              </a:rPr>
              <a:t>from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"Printer</a:t>
            </a:r>
            <a:r>
              <a:rPr dirty="0" sz="1100" spc="7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Sales"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 spc="65">
                <a:latin typeface="Arial MT"/>
                <a:cs typeface="Arial MT"/>
              </a:rPr>
              <a:t>to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"Total</a:t>
            </a:r>
            <a:r>
              <a:rPr dirty="0" sz="1100" spc="7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Print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Solutions."</a:t>
            </a:r>
            <a:endParaRPr sz="1100">
              <a:latin typeface="Arial MT"/>
              <a:cs typeface="Arial MT"/>
            </a:endParaRPr>
          </a:p>
          <a:p>
            <a:pPr marL="478790" indent="-227965">
              <a:lnSpc>
                <a:spcPct val="100000"/>
              </a:lnSpc>
              <a:spcBef>
                <a:spcPts val="630"/>
              </a:spcBef>
              <a:buFont typeface="Tahoma"/>
              <a:buChar char="●"/>
              <a:tabLst>
                <a:tab pos="478790" algn="l"/>
              </a:tabLst>
            </a:pPr>
            <a:r>
              <a:rPr dirty="0" sz="1100" spc="-10">
                <a:latin typeface="Arial Black"/>
                <a:cs typeface="Arial Black"/>
              </a:rPr>
              <a:t>KPIs:</a:t>
            </a:r>
            <a:endParaRPr sz="1100">
              <a:latin typeface="Arial Black"/>
              <a:cs typeface="Arial Black"/>
            </a:endParaRPr>
          </a:p>
          <a:p>
            <a:pPr lvl="1" marL="935990" indent="-227965">
              <a:lnSpc>
                <a:spcPct val="100000"/>
              </a:lnSpc>
              <a:spcBef>
                <a:spcPts val="630"/>
              </a:spcBef>
              <a:buFont typeface="Tahoma"/>
              <a:buChar char="○"/>
              <a:tabLst>
                <a:tab pos="935990" algn="l"/>
              </a:tabLst>
            </a:pPr>
            <a:r>
              <a:rPr dirty="0" sz="1100" spc="-75">
                <a:latin typeface="Arial Black"/>
                <a:cs typeface="Arial Black"/>
              </a:rPr>
              <a:t>Attach</a:t>
            </a:r>
            <a:r>
              <a:rPr dirty="0" sz="1100" spc="-30">
                <a:latin typeface="Arial Black"/>
                <a:cs typeface="Arial Black"/>
              </a:rPr>
              <a:t> </a:t>
            </a:r>
            <a:r>
              <a:rPr dirty="0" sz="1100" spc="-80">
                <a:latin typeface="Arial Black"/>
                <a:cs typeface="Arial Black"/>
              </a:rPr>
              <a:t>Rate:</a:t>
            </a:r>
            <a:r>
              <a:rPr dirty="0" sz="1100" spc="-25">
                <a:latin typeface="Arial Black"/>
                <a:cs typeface="Arial Black"/>
              </a:rPr>
              <a:t> </a:t>
            </a:r>
            <a:r>
              <a:rPr dirty="0" sz="1100" spc="-10">
                <a:latin typeface="Arial MT"/>
                <a:cs typeface="Arial MT"/>
              </a:rPr>
              <a:t>80%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(Spare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Ink/Toner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sold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50">
                <a:latin typeface="Arial MT"/>
                <a:cs typeface="Arial MT"/>
              </a:rPr>
              <a:t>with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every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unit).</a:t>
            </a:r>
            <a:endParaRPr sz="1100">
              <a:latin typeface="Arial MT"/>
              <a:cs typeface="Arial MT"/>
            </a:endParaRPr>
          </a:p>
          <a:p>
            <a:pPr lvl="1" marL="936625" marR="224790" indent="-228600">
              <a:lnSpc>
                <a:spcPct val="147700"/>
              </a:lnSpc>
              <a:buFont typeface="Tahoma"/>
              <a:buChar char="○"/>
              <a:tabLst>
                <a:tab pos="936625" algn="l"/>
              </a:tabLst>
            </a:pPr>
            <a:r>
              <a:rPr dirty="0" sz="1100" spc="-100">
                <a:latin typeface="Arial Black"/>
                <a:cs typeface="Arial Black"/>
              </a:rPr>
              <a:t>Service</a:t>
            </a:r>
            <a:r>
              <a:rPr dirty="0" sz="1100" spc="-20">
                <a:latin typeface="Arial Black"/>
                <a:cs typeface="Arial Black"/>
              </a:rPr>
              <a:t> </a:t>
            </a:r>
            <a:r>
              <a:rPr dirty="0" sz="1100" spc="-95">
                <a:latin typeface="Arial Black"/>
                <a:cs typeface="Arial Black"/>
              </a:rPr>
              <a:t>Leads:</a:t>
            </a:r>
            <a:r>
              <a:rPr dirty="0" sz="1100" spc="-15">
                <a:latin typeface="Arial Black"/>
                <a:cs typeface="Arial Black"/>
              </a:rPr>
              <a:t> </a:t>
            </a:r>
            <a:r>
              <a:rPr dirty="0" sz="1100" spc="-10">
                <a:latin typeface="Arial MT"/>
                <a:cs typeface="Arial MT"/>
              </a:rPr>
              <a:t>15%</a:t>
            </a:r>
            <a:r>
              <a:rPr dirty="0" sz="1100" spc="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conversion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 spc="70">
                <a:latin typeface="Arial MT"/>
                <a:cs typeface="Arial MT"/>
              </a:rPr>
              <a:t>from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Service</a:t>
            </a:r>
            <a:r>
              <a:rPr dirty="0" sz="1100" spc="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Center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repairs</a:t>
            </a:r>
            <a:r>
              <a:rPr dirty="0" sz="1100" spc="40">
                <a:latin typeface="Arial MT"/>
                <a:cs typeface="Arial MT"/>
              </a:rPr>
              <a:t> </a:t>
            </a:r>
            <a:r>
              <a:rPr dirty="0" sz="1100" spc="65">
                <a:latin typeface="Arial MT"/>
                <a:cs typeface="Arial MT"/>
              </a:rPr>
              <a:t>to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new</a:t>
            </a:r>
            <a:r>
              <a:rPr dirty="0" sz="1100" spc="40">
                <a:latin typeface="Arial MT"/>
                <a:cs typeface="Arial MT"/>
              </a:rPr>
              <a:t> </a:t>
            </a:r>
            <a:r>
              <a:rPr dirty="0" sz="1100" spc="35">
                <a:latin typeface="Arial MT"/>
                <a:cs typeface="Arial MT"/>
              </a:rPr>
              <a:t>unit </a:t>
            </a:r>
            <a:r>
              <a:rPr dirty="0" sz="1100" spc="-10">
                <a:latin typeface="Arial MT"/>
                <a:cs typeface="Arial MT"/>
              </a:rPr>
              <a:t>upgrades.</a:t>
            </a:r>
            <a:endParaRPr sz="1100">
              <a:latin typeface="Arial MT"/>
              <a:cs typeface="Arial MT"/>
            </a:endParaRPr>
          </a:p>
          <a:p>
            <a:pPr algn="r" marL="227965" marR="1983739" indent="-227965">
              <a:lnSpc>
                <a:spcPct val="100000"/>
              </a:lnSpc>
              <a:spcBef>
                <a:spcPts val="630"/>
              </a:spcBef>
              <a:buFont typeface="Tahoma"/>
              <a:buChar char="●"/>
              <a:tabLst>
                <a:tab pos="227965" algn="l"/>
              </a:tabLst>
            </a:pPr>
            <a:r>
              <a:rPr dirty="0" sz="1100" spc="-70">
                <a:latin typeface="Arial Black"/>
                <a:cs typeface="Arial Black"/>
              </a:rPr>
              <a:t>Timeline:</a:t>
            </a:r>
            <a:r>
              <a:rPr dirty="0" sz="1100" spc="-40">
                <a:latin typeface="Arial Black"/>
                <a:cs typeface="Arial Black"/>
              </a:rPr>
              <a:t> </a:t>
            </a:r>
            <a:r>
              <a:rPr dirty="0" sz="1100" spc="175">
                <a:latin typeface="Arial MT"/>
                <a:cs typeface="Arial MT"/>
              </a:rPr>
              <a:t>*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35" i="1">
                <a:latin typeface="Arial"/>
                <a:cs typeface="Arial"/>
              </a:rPr>
              <a:t>Q1:</a:t>
            </a:r>
            <a:r>
              <a:rPr dirty="0" sz="1100" spc="25" i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Roll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60">
                <a:latin typeface="Arial MT"/>
                <a:cs typeface="Arial MT"/>
              </a:rPr>
              <a:t>out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"Ink-Link"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Loyalty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Program.</a:t>
            </a:r>
            <a:endParaRPr sz="1100">
              <a:latin typeface="Arial MT"/>
              <a:cs typeface="Arial MT"/>
            </a:endParaRPr>
          </a:p>
          <a:p>
            <a:pPr algn="r" lvl="1" marL="227965" marR="1924050" indent="-227965">
              <a:lnSpc>
                <a:spcPct val="100000"/>
              </a:lnSpc>
              <a:spcBef>
                <a:spcPts val="630"/>
              </a:spcBef>
              <a:buFont typeface="Tahoma"/>
              <a:buChar char="○"/>
              <a:tabLst>
                <a:tab pos="227965" algn="l"/>
              </a:tabLst>
            </a:pPr>
            <a:r>
              <a:rPr dirty="0" sz="1100" spc="-35" i="1">
                <a:latin typeface="Arial"/>
                <a:cs typeface="Arial"/>
              </a:rPr>
              <a:t>Q2: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10">
                <a:latin typeface="Arial MT"/>
                <a:cs typeface="Arial MT"/>
              </a:rPr>
              <a:t>B2B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Regional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Roadshows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(Owerri/Asaba).</a:t>
            </a:r>
            <a:endParaRPr sz="1100">
              <a:latin typeface="Arial MT"/>
              <a:cs typeface="Arial MT"/>
            </a:endParaRPr>
          </a:p>
          <a:p>
            <a:pPr marL="479425" marR="5080" indent="-228600">
              <a:lnSpc>
                <a:spcPct val="147700"/>
              </a:lnSpc>
              <a:spcBef>
                <a:spcPts val="5"/>
              </a:spcBef>
              <a:buFont typeface="Tahoma"/>
              <a:buChar char="●"/>
              <a:tabLst>
                <a:tab pos="479425" algn="l"/>
              </a:tabLst>
            </a:pPr>
            <a:r>
              <a:rPr dirty="0" sz="1100" spc="-95">
                <a:latin typeface="Arial Black"/>
                <a:cs typeface="Arial Black"/>
              </a:rPr>
              <a:t>Resource</a:t>
            </a:r>
            <a:r>
              <a:rPr dirty="0" sz="1100" spc="15">
                <a:latin typeface="Arial Black"/>
                <a:cs typeface="Arial Black"/>
              </a:rPr>
              <a:t> </a:t>
            </a:r>
            <a:r>
              <a:rPr dirty="0" sz="1100" spc="-80">
                <a:latin typeface="Arial Black"/>
                <a:cs typeface="Arial Black"/>
              </a:rPr>
              <a:t>Needs:</a:t>
            </a:r>
            <a:r>
              <a:rPr dirty="0" sz="1100" spc="20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Dedicated</a:t>
            </a:r>
            <a:r>
              <a:rPr dirty="0" sz="1100" spc="7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"Consumable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Inventory</a:t>
            </a:r>
            <a:r>
              <a:rPr dirty="0" sz="1100" spc="7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App"</a:t>
            </a:r>
            <a:r>
              <a:rPr dirty="0" sz="1100" spc="75">
                <a:latin typeface="Arial MT"/>
                <a:cs typeface="Arial MT"/>
              </a:rPr>
              <a:t> </a:t>
            </a:r>
            <a:r>
              <a:rPr dirty="0" sz="1100" spc="65">
                <a:latin typeface="Arial MT"/>
                <a:cs typeface="Arial MT"/>
              </a:rPr>
              <a:t>to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track</a:t>
            </a:r>
            <a:r>
              <a:rPr dirty="0" sz="1100" spc="75">
                <a:latin typeface="Arial MT"/>
                <a:cs typeface="Arial MT"/>
              </a:rPr>
              <a:t> </a:t>
            </a:r>
            <a:r>
              <a:rPr dirty="0" sz="1100" spc="50">
                <a:latin typeface="Arial MT"/>
                <a:cs typeface="Arial MT"/>
              </a:rPr>
              <a:t>toner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levels</a:t>
            </a:r>
            <a:r>
              <a:rPr dirty="0" sz="1100" spc="75">
                <a:latin typeface="Arial MT"/>
                <a:cs typeface="Arial MT"/>
              </a:rPr>
              <a:t> </a:t>
            </a:r>
            <a:r>
              <a:rPr dirty="0" sz="1100" spc="40">
                <a:latin typeface="Arial MT"/>
                <a:cs typeface="Arial MT"/>
              </a:rPr>
              <a:t>for </a:t>
            </a:r>
            <a:r>
              <a:rPr dirty="0" sz="1100" spc="-10">
                <a:latin typeface="Arial MT"/>
                <a:cs typeface="Arial MT"/>
              </a:rPr>
              <a:t>B2B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clients.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20"/>
              <a:t>Tab</a:t>
            </a:r>
            <a:r>
              <a:rPr dirty="0" spc="-220"/>
              <a:t> </a:t>
            </a:r>
            <a:r>
              <a:rPr dirty="0" spc="-500"/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175" y="1022095"/>
            <a:ext cx="5668645" cy="2286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0">
                <a:latin typeface="Arial Black"/>
                <a:cs typeface="Arial Black"/>
              </a:rPr>
              <a:t>Slide</a:t>
            </a:r>
            <a:r>
              <a:rPr dirty="0" sz="1300" spc="-80">
                <a:latin typeface="Arial Black"/>
                <a:cs typeface="Arial Black"/>
              </a:rPr>
              <a:t> </a:t>
            </a:r>
            <a:r>
              <a:rPr dirty="0" sz="1300" spc="-100">
                <a:latin typeface="Arial Black"/>
                <a:cs typeface="Arial Black"/>
              </a:rPr>
              <a:t>6: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60">
                <a:latin typeface="Arial Black"/>
                <a:cs typeface="Arial Black"/>
              </a:rPr>
              <a:t>Obaakran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80">
                <a:latin typeface="Arial Black"/>
                <a:cs typeface="Arial Black"/>
              </a:rPr>
              <a:t>Branch </a:t>
            </a:r>
            <a:r>
              <a:rPr dirty="0" sz="1300">
                <a:latin typeface="Arial Black"/>
                <a:cs typeface="Arial Black"/>
              </a:rPr>
              <a:t>–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70">
                <a:latin typeface="Arial Black"/>
                <a:cs typeface="Arial Black"/>
              </a:rPr>
              <a:t>Full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70">
                <a:latin typeface="Arial Black"/>
                <a:cs typeface="Arial Black"/>
              </a:rPr>
              <a:t>Product</a:t>
            </a:r>
            <a:r>
              <a:rPr dirty="0" sz="1300" spc="-80">
                <a:latin typeface="Arial Black"/>
                <a:cs typeface="Arial Black"/>
              </a:rPr>
              <a:t> </a:t>
            </a:r>
            <a:r>
              <a:rPr dirty="0" sz="1300" spc="-10">
                <a:latin typeface="Arial Black"/>
                <a:cs typeface="Arial Black"/>
              </a:rPr>
              <a:t>Performance</a:t>
            </a:r>
            <a:endParaRPr sz="13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300">
              <a:latin typeface="Arial Black"/>
              <a:cs typeface="Arial Black"/>
            </a:endParaRPr>
          </a:p>
          <a:p>
            <a:pPr marL="22225">
              <a:lnSpc>
                <a:spcPct val="100000"/>
              </a:lnSpc>
              <a:spcBef>
                <a:spcPts val="5"/>
              </a:spcBef>
            </a:pPr>
            <a:r>
              <a:rPr dirty="0" sz="1100" spc="-75">
                <a:latin typeface="Arial Black"/>
                <a:cs typeface="Arial Black"/>
              </a:rPr>
              <a:t>Visual:</a:t>
            </a:r>
            <a:r>
              <a:rPr dirty="0" sz="1100" spc="-55">
                <a:latin typeface="Arial Black"/>
                <a:cs typeface="Arial Black"/>
              </a:rPr>
              <a:t> </a:t>
            </a:r>
            <a:r>
              <a:rPr dirty="0" sz="1100" i="1">
                <a:latin typeface="Arial"/>
                <a:cs typeface="Arial"/>
              </a:rPr>
              <a:t>Waterfall</a:t>
            </a:r>
            <a:r>
              <a:rPr dirty="0" sz="1100" spc="1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Chart</a:t>
            </a:r>
            <a:r>
              <a:rPr dirty="0" sz="1100" spc="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of</a:t>
            </a:r>
            <a:r>
              <a:rPr dirty="0" sz="1100" spc="5" i="1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Category</a:t>
            </a:r>
            <a:r>
              <a:rPr dirty="0" sz="1100" spc="1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Growth</a:t>
            </a:r>
            <a:r>
              <a:rPr dirty="0" sz="1100" spc="5" i="1">
                <a:latin typeface="Arial"/>
                <a:cs typeface="Arial"/>
              </a:rPr>
              <a:t> </a:t>
            </a:r>
            <a:r>
              <a:rPr dirty="0" sz="1100" spc="-80">
                <a:latin typeface="Arial Black"/>
                <a:cs typeface="Arial Black"/>
              </a:rPr>
              <a:t>Category</a:t>
            </a:r>
            <a:r>
              <a:rPr dirty="0" sz="1100" spc="-50">
                <a:latin typeface="Arial Black"/>
                <a:cs typeface="Arial Black"/>
              </a:rPr>
              <a:t> </a:t>
            </a:r>
            <a:r>
              <a:rPr dirty="0" sz="1100" spc="-70">
                <a:latin typeface="Arial Black"/>
                <a:cs typeface="Arial Black"/>
              </a:rPr>
              <a:t>Performance</a:t>
            </a:r>
            <a:r>
              <a:rPr dirty="0" sz="1100" spc="-50">
                <a:latin typeface="Arial Black"/>
                <a:cs typeface="Arial Black"/>
              </a:rPr>
              <a:t> </a:t>
            </a:r>
            <a:r>
              <a:rPr dirty="0" sz="1100" spc="-95">
                <a:latin typeface="Arial Black"/>
                <a:cs typeface="Arial Black"/>
              </a:rPr>
              <a:t>(2024-</a:t>
            </a:r>
            <a:r>
              <a:rPr dirty="0" sz="1100" spc="-10">
                <a:latin typeface="Arial Black"/>
                <a:cs typeface="Arial Black"/>
              </a:rPr>
              <a:t>2025):</a:t>
            </a:r>
            <a:endParaRPr sz="11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100">
              <a:latin typeface="Arial Black"/>
              <a:cs typeface="Arial Black"/>
            </a:endParaRPr>
          </a:p>
          <a:p>
            <a:pPr marL="478790" indent="-227965">
              <a:lnSpc>
                <a:spcPct val="100000"/>
              </a:lnSpc>
              <a:buFont typeface="Tahoma"/>
              <a:buChar char="●"/>
              <a:tabLst>
                <a:tab pos="478790" algn="l"/>
              </a:tabLst>
            </a:pPr>
            <a:r>
              <a:rPr dirty="0" sz="1100" spc="-75">
                <a:latin typeface="Arial Black"/>
                <a:cs typeface="Arial Black"/>
              </a:rPr>
              <a:t>Inks:</a:t>
            </a:r>
            <a:r>
              <a:rPr dirty="0" sz="1100" spc="-50">
                <a:latin typeface="Arial Black"/>
                <a:cs typeface="Arial Black"/>
              </a:rPr>
              <a:t> </a:t>
            </a:r>
            <a:r>
              <a:rPr dirty="0" sz="1100" spc="-110">
                <a:latin typeface="Arial Black"/>
                <a:cs typeface="Arial Black"/>
              </a:rPr>
              <a:t>+25.5%</a:t>
            </a:r>
            <a:r>
              <a:rPr dirty="0" sz="1100" spc="-50">
                <a:latin typeface="Arial Black"/>
                <a:cs typeface="Arial Black"/>
              </a:rPr>
              <a:t> </a:t>
            </a:r>
            <a:r>
              <a:rPr dirty="0" sz="1100" spc="-10">
                <a:latin typeface="Arial MT"/>
                <a:cs typeface="Arial MT"/>
              </a:rPr>
              <a:t>(The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new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55">
                <a:latin typeface="Arial MT"/>
                <a:cs typeface="Arial MT"/>
              </a:rPr>
              <a:t>profit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anchor).</a:t>
            </a:r>
            <a:endParaRPr sz="1100">
              <a:latin typeface="Arial MT"/>
              <a:cs typeface="Arial MT"/>
            </a:endParaRPr>
          </a:p>
          <a:p>
            <a:pPr marL="478790" indent="-227965">
              <a:lnSpc>
                <a:spcPct val="100000"/>
              </a:lnSpc>
              <a:spcBef>
                <a:spcPts val="630"/>
              </a:spcBef>
              <a:buFont typeface="Tahoma"/>
              <a:buChar char="●"/>
              <a:tabLst>
                <a:tab pos="478790" algn="l"/>
              </a:tabLst>
            </a:pPr>
            <a:r>
              <a:rPr dirty="0" sz="1100" spc="-55">
                <a:latin typeface="Arial Black"/>
                <a:cs typeface="Arial Black"/>
              </a:rPr>
              <a:t>Mobile</a:t>
            </a:r>
            <a:r>
              <a:rPr dirty="0" sz="1100" spc="-35">
                <a:latin typeface="Arial Black"/>
                <a:cs typeface="Arial Black"/>
              </a:rPr>
              <a:t> </a:t>
            </a:r>
            <a:r>
              <a:rPr dirty="0" sz="1100" spc="-80">
                <a:latin typeface="Arial Black"/>
                <a:cs typeface="Arial Black"/>
              </a:rPr>
              <a:t>Phones:</a:t>
            </a:r>
            <a:r>
              <a:rPr dirty="0" sz="1100" spc="-30">
                <a:latin typeface="Arial Black"/>
                <a:cs typeface="Arial Black"/>
              </a:rPr>
              <a:t> </a:t>
            </a:r>
            <a:r>
              <a:rPr dirty="0" sz="1100" spc="-10">
                <a:latin typeface="Arial Black"/>
                <a:cs typeface="Arial Black"/>
              </a:rPr>
              <a:t>+22.6%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478790" indent="-227965">
              <a:lnSpc>
                <a:spcPct val="100000"/>
              </a:lnSpc>
              <a:spcBef>
                <a:spcPts val="630"/>
              </a:spcBef>
              <a:buFont typeface="Tahoma"/>
              <a:buChar char="●"/>
              <a:tabLst>
                <a:tab pos="478790" algn="l"/>
              </a:tabLst>
            </a:pPr>
            <a:r>
              <a:rPr dirty="0" sz="1100" spc="-60">
                <a:latin typeface="Arial Black"/>
                <a:cs typeface="Arial Black"/>
              </a:rPr>
              <a:t>Printers:</a:t>
            </a:r>
            <a:r>
              <a:rPr dirty="0" sz="1100" spc="-5">
                <a:latin typeface="Arial Black"/>
                <a:cs typeface="Arial Black"/>
              </a:rPr>
              <a:t> </a:t>
            </a:r>
            <a:r>
              <a:rPr dirty="0" sz="1100" spc="-10">
                <a:latin typeface="Arial Black"/>
                <a:cs typeface="Arial Black"/>
              </a:rPr>
              <a:t>+13.7%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479425" marR="5080" indent="-228600">
              <a:lnSpc>
                <a:spcPct val="147700"/>
              </a:lnSpc>
              <a:buFont typeface="Tahoma"/>
              <a:buChar char="●"/>
              <a:tabLst>
                <a:tab pos="479425" algn="l"/>
              </a:tabLst>
            </a:pPr>
            <a:r>
              <a:rPr dirty="0" sz="1100" spc="-80">
                <a:latin typeface="Arial Black"/>
                <a:cs typeface="Arial Black"/>
              </a:rPr>
              <a:t>Laptops: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 spc="-25">
                <a:latin typeface="Arial Black"/>
                <a:cs typeface="Arial Black"/>
              </a:rPr>
              <a:t>-</a:t>
            </a:r>
            <a:r>
              <a:rPr dirty="0" sz="1100" spc="-105">
                <a:latin typeface="Arial Black"/>
                <a:cs typeface="Arial Black"/>
              </a:rPr>
              <a:t>9.8%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(High</a:t>
            </a:r>
            <a:r>
              <a:rPr dirty="0" sz="1100" spc="9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competition/Price</a:t>
            </a:r>
            <a:r>
              <a:rPr dirty="0" sz="1100" spc="9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wars).</a:t>
            </a:r>
            <a:r>
              <a:rPr dirty="0" sz="1100" spc="90">
                <a:latin typeface="Arial MT"/>
                <a:cs typeface="Arial MT"/>
              </a:rPr>
              <a:t> </a:t>
            </a:r>
            <a:r>
              <a:rPr dirty="0" sz="1100" spc="-65">
                <a:latin typeface="Arial Black"/>
                <a:cs typeface="Arial Black"/>
              </a:rPr>
              <a:t>Insight: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Obaakran</a:t>
            </a:r>
            <a:r>
              <a:rPr dirty="0" sz="1100" spc="9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9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successfully </a:t>
            </a:r>
            <a:r>
              <a:rPr dirty="0" sz="1100">
                <a:latin typeface="Arial MT"/>
                <a:cs typeface="Arial MT"/>
              </a:rPr>
              <a:t>diversifying</a:t>
            </a:r>
            <a:r>
              <a:rPr dirty="0" sz="1100" spc="1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away</a:t>
            </a:r>
            <a:r>
              <a:rPr dirty="0" sz="1100" spc="145">
                <a:latin typeface="Arial MT"/>
                <a:cs typeface="Arial MT"/>
              </a:rPr>
              <a:t> </a:t>
            </a:r>
            <a:r>
              <a:rPr dirty="0" sz="1100" spc="70">
                <a:latin typeface="Arial MT"/>
                <a:cs typeface="Arial MT"/>
              </a:rPr>
              <a:t>from</a:t>
            </a:r>
            <a:r>
              <a:rPr dirty="0" sz="1100" spc="1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low-margin</a:t>
            </a:r>
            <a:r>
              <a:rPr dirty="0" sz="1100" spc="1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laptops</a:t>
            </a:r>
            <a:r>
              <a:rPr dirty="0" sz="1100" spc="145">
                <a:latin typeface="Arial MT"/>
                <a:cs typeface="Arial MT"/>
              </a:rPr>
              <a:t> </a:t>
            </a:r>
            <a:r>
              <a:rPr dirty="0" sz="1100" spc="50">
                <a:latin typeface="Arial MT"/>
                <a:cs typeface="Arial MT"/>
              </a:rPr>
              <a:t>into</a:t>
            </a:r>
            <a:r>
              <a:rPr dirty="0" sz="1100" spc="1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high-margin</a:t>
            </a:r>
            <a:r>
              <a:rPr dirty="0" sz="1100" spc="1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consumables</a:t>
            </a:r>
            <a:r>
              <a:rPr dirty="0" sz="1100" spc="14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and </a:t>
            </a:r>
            <a:r>
              <a:rPr dirty="0" sz="1100" spc="-10">
                <a:latin typeface="Arial MT"/>
                <a:cs typeface="Arial MT"/>
              </a:rPr>
              <a:t>mobiles.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925" y="3552825"/>
            <a:ext cx="5943599" cy="24669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010" y="1139511"/>
            <a:ext cx="5773340" cy="48293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20"/>
              <a:t>Tab</a:t>
            </a:r>
            <a:r>
              <a:rPr dirty="0" spc="-220"/>
              <a:t> </a:t>
            </a:r>
            <a:r>
              <a:rPr dirty="0" spc="-500"/>
              <a:t>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175" y="1022095"/>
            <a:ext cx="5946140" cy="2534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0">
                <a:latin typeface="Arial Black"/>
                <a:cs typeface="Arial Black"/>
              </a:rPr>
              <a:t>Slide</a:t>
            </a:r>
            <a:r>
              <a:rPr dirty="0" sz="1300" spc="-70">
                <a:latin typeface="Arial Black"/>
                <a:cs typeface="Arial Black"/>
              </a:rPr>
              <a:t> </a:t>
            </a:r>
            <a:r>
              <a:rPr dirty="0" sz="1300" spc="-100">
                <a:latin typeface="Arial Black"/>
                <a:cs typeface="Arial Black"/>
              </a:rPr>
              <a:t>7:</a:t>
            </a:r>
            <a:r>
              <a:rPr dirty="0" sz="1300" spc="-65">
                <a:latin typeface="Arial Black"/>
                <a:cs typeface="Arial Black"/>
              </a:rPr>
              <a:t> </a:t>
            </a:r>
            <a:r>
              <a:rPr dirty="0" sz="1300" spc="-60">
                <a:latin typeface="Arial Black"/>
                <a:cs typeface="Arial Black"/>
              </a:rPr>
              <a:t>Obaakran</a:t>
            </a:r>
            <a:r>
              <a:rPr dirty="0" sz="1300" spc="-65">
                <a:latin typeface="Arial Black"/>
                <a:cs typeface="Arial Black"/>
              </a:rPr>
              <a:t> </a:t>
            </a:r>
            <a:r>
              <a:rPr dirty="0" sz="1300" spc="-80">
                <a:latin typeface="Arial Black"/>
                <a:cs typeface="Arial Black"/>
              </a:rPr>
              <a:t>Branch</a:t>
            </a:r>
            <a:r>
              <a:rPr dirty="0" sz="1300" spc="-70">
                <a:latin typeface="Arial Black"/>
                <a:cs typeface="Arial Black"/>
              </a:rPr>
              <a:t> </a:t>
            </a:r>
            <a:r>
              <a:rPr dirty="0" sz="1300">
                <a:latin typeface="Arial Black"/>
                <a:cs typeface="Arial Black"/>
              </a:rPr>
              <a:t>–</a:t>
            </a:r>
            <a:r>
              <a:rPr dirty="0" sz="1300" spc="-65">
                <a:latin typeface="Arial Black"/>
                <a:cs typeface="Arial Black"/>
              </a:rPr>
              <a:t> </a:t>
            </a:r>
            <a:r>
              <a:rPr dirty="0" sz="1300" spc="-100">
                <a:latin typeface="Arial Black"/>
                <a:cs typeface="Arial Black"/>
              </a:rPr>
              <a:t>Strategic</a:t>
            </a:r>
            <a:r>
              <a:rPr dirty="0" sz="1300" spc="-65">
                <a:latin typeface="Arial Black"/>
                <a:cs typeface="Arial Black"/>
              </a:rPr>
              <a:t> </a:t>
            </a:r>
            <a:r>
              <a:rPr dirty="0" sz="1300" spc="-10">
                <a:latin typeface="Arial Black"/>
                <a:cs typeface="Arial Black"/>
              </a:rPr>
              <a:t>Assessment</a:t>
            </a:r>
            <a:endParaRPr sz="13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300">
              <a:latin typeface="Arial Black"/>
              <a:cs typeface="Arial Black"/>
            </a:endParaRPr>
          </a:p>
          <a:p>
            <a:pPr marL="22225">
              <a:lnSpc>
                <a:spcPct val="100000"/>
              </a:lnSpc>
              <a:spcBef>
                <a:spcPts val="5"/>
              </a:spcBef>
            </a:pPr>
            <a:r>
              <a:rPr dirty="0" sz="1100" spc="-10">
                <a:latin typeface="Arial Black"/>
                <a:cs typeface="Arial Black"/>
              </a:rPr>
              <a:t>Content:</a:t>
            </a:r>
            <a:endParaRPr sz="1100">
              <a:latin typeface="Arial Black"/>
              <a:cs typeface="Arial Black"/>
            </a:endParaRPr>
          </a:p>
          <a:p>
            <a:pPr marL="479425" marR="5080" indent="-228600">
              <a:lnSpc>
                <a:spcPct val="147700"/>
              </a:lnSpc>
              <a:spcBef>
                <a:spcPts val="1225"/>
              </a:spcBef>
              <a:buFont typeface="Tahoma"/>
              <a:buChar char="●"/>
              <a:tabLst>
                <a:tab pos="479425" algn="l"/>
              </a:tabLst>
            </a:pPr>
            <a:r>
              <a:rPr dirty="0" sz="1100" spc="-55">
                <a:latin typeface="Arial Black"/>
                <a:cs typeface="Arial Black"/>
              </a:rPr>
              <a:t>Identified</a:t>
            </a:r>
            <a:r>
              <a:rPr dirty="0" sz="1100" spc="-5">
                <a:latin typeface="Arial Black"/>
                <a:cs typeface="Arial Black"/>
              </a:rPr>
              <a:t> </a:t>
            </a:r>
            <a:r>
              <a:rPr dirty="0" sz="1100" spc="-95">
                <a:latin typeface="Arial Black"/>
                <a:cs typeface="Arial Black"/>
              </a:rPr>
              <a:t>Gaps:</a:t>
            </a:r>
            <a:r>
              <a:rPr dirty="0" sz="1100" spc="-5">
                <a:latin typeface="Arial Black"/>
                <a:cs typeface="Arial Black"/>
              </a:rPr>
              <a:t> </a:t>
            </a:r>
            <a:r>
              <a:rPr dirty="0" sz="1100" spc="-10">
                <a:latin typeface="Arial MT"/>
                <a:cs typeface="Arial MT"/>
              </a:rPr>
              <a:t>Peak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60">
                <a:latin typeface="Arial MT"/>
                <a:cs typeface="Arial MT"/>
              </a:rPr>
              <a:t>hour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congestion</a:t>
            </a:r>
            <a:r>
              <a:rPr dirty="0" sz="1100" spc="5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reduces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45">
                <a:latin typeface="Arial MT"/>
                <a:cs typeface="Arial MT"/>
              </a:rPr>
              <a:t>"Warmth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Friendliness"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(Mission impact).</a:t>
            </a:r>
            <a:endParaRPr sz="1100">
              <a:latin typeface="Arial MT"/>
              <a:cs typeface="Arial MT"/>
            </a:endParaRPr>
          </a:p>
          <a:p>
            <a:pPr marL="479425" marR="156845" indent="-228600">
              <a:lnSpc>
                <a:spcPct val="147700"/>
              </a:lnSpc>
              <a:buFont typeface="Tahoma"/>
              <a:buChar char="●"/>
              <a:tabLst>
                <a:tab pos="479425" algn="l"/>
              </a:tabLst>
            </a:pPr>
            <a:r>
              <a:rPr dirty="0" sz="1100" spc="-45">
                <a:latin typeface="Arial Black"/>
                <a:cs typeface="Arial Black"/>
              </a:rPr>
              <a:t>Opportunity:</a:t>
            </a:r>
            <a:r>
              <a:rPr dirty="0" sz="1100" spc="25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8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"Creator</a:t>
            </a:r>
            <a:r>
              <a:rPr dirty="0" sz="1100" spc="8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Economy."</a:t>
            </a:r>
            <a:r>
              <a:rPr dirty="0" sz="1100" spc="8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Content</a:t>
            </a:r>
            <a:r>
              <a:rPr dirty="0" sz="1100" spc="8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creators</a:t>
            </a:r>
            <a:r>
              <a:rPr dirty="0" sz="1100" spc="8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8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Lagos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need</a:t>
            </a:r>
            <a:r>
              <a:rPr dirty="0" sz="1100" spc="8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specialized </a:t>
            </a:r>
            <a:r>
              <a:rPr dirty="0" sz="1100">
                <a:latin typeface="Arial MT"/>
                <a:cs typeface="Arial MT"/>
              </a:rPr>
              <a:t>Canon</a:t>
            </a:r>
            <a:r>
              <a:rPr dirty="0" sz="1100" spc="7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gear</a:t>
            </a:r>
            <a:r>
              <a:rPr dirty="0" sz="1100" spc="7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7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high-end</a:t>
            </a:r>
            <a:r>
              <a:rPr dirty="0" sz="1100" spc="7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printing.</a:t>
            </a:r>
            <a:endParaRPr sz="1100">
              <a:latin typeface="Arial MT"/>
              <a:cs typeface="Arial MT"/>
            </a:endParaRPr>
          </a:p>
          <a:p>
            <a:pPr marL="478790" indent="-227965">
              <a:lnSpc>
                <a:spcPct val="100000"/>
              </a:lnSpc>
              <a:spcBef>
                <a:spcPts val="630"/>
              </a:spcBef>
              <a:buFont typeface="Tahoma"/>
              <a:buChar char="●"/>
              <a:tabLst>
                <a:tab pos="478790" algn="l"/>
              </a:tabLst>
            </a:pPr>
            <a:r>
              <a:rPr dirty="0" sz="1100" spc="-50">
                <a:latin typeface="Arial Black"/>
                <a:cs typeface="Arial Black"/>
              </a:rPr>
              <a:t>Market</a:t>
            </a:r>
            <a:r>
              <a:rPr dirty="0" sz="1100" spc="10">
                <a:latin typeface="Arial Black"/>
                <a:cs typeface="Arial Black"/>
              </a:rPr>
              <a:t> </a:t>
            </a:r>
            <a:r>
              <a:rPr dirty="0" sz="1100" spc="-75">
                <a:latin typeface="Arial Black"/>
                <a:cs typeface="Arial Black"/>
              </a:rPr>
              <a:t>Challenge:</a:t>
            </a:r>
            <a:r>
              <a:rPr dirty="0" sz="1100" spc="10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Price</a:t>
            </a:r>
            <a:r>
              <a:rPr dirty="0" sz="1100" spc="7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pressure</a:t>
            </a:r>
            <a:r>
              <a:rPr dirty="0" sz="1100" spc="70">
                <a:latin typeface="Arial MT"/>
                <a:cs typeface="Arial MT"/>
              </a:rPr>
              <a:t> from</a:t>
            </a:r>
            <a:r>
              <a:rPr dirty="0" sz="1100" spc="7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Computer</a:t>
            </a:r>
            <a:r>
              <a:rPr dirty="0" sz="1100" spc="7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Village.</a:t>
            </a:r>
            <a:endParaRPr sz="1100">
              <a:latin typeface="Arial MT"/>
              <a:cs typeface="Arial MT"/>
            </a:endParaRPr>
          </a:p>
          <a:p>
            <a:pPr marL="479425" marR="9525" indent="-228600">
              <a:lnSpc>
                <a:spcPct val="147700"/>
              </a:lnSpc>
              <a:buFont typeface="Tahoma"/>
              <a:buChar char="●"/>
              <a:tabLst>
                <a:tab pos="479425" algn="l"/>
              </a:tabLst>
            </a:pPr>
            <a:r>
              <a:rPr dirty="0" sz="1100" spc="-100">
                <a:latin typeface="Arial Black"/>
                <a:cs typeface="Arial Black"/>
              </a:rPr>
              <a:t>The</a:t>
            </a:r>
            <a:r>
              <a:rPr dirty="0" sz="1100" spc="-45">
                <a:latin typeface="Arial Black"/>
                <a:cs typeface="Arial Black"/>
              </a:rPr>
              <a:t> </a:t>
            </a:r>
            <a:r>
              <a:rPr dirty="0" sz="1100" spc="-50">
                <a:latin typeface="Arial Black"/>
                <a:cs typeface="Arial Black"/>
              </a:rPr>
              <a:t>"One-</a:t>
            </a:r>
            <a:r>
              <a:rPr dirty="0" sz="1100" spc="-80">
                <a:latin typeface="Arial Black"/>
                <a:cs typeface="Arial Black"/>
              </a:rPr>
              <a:t>Stop"</a:t>
            </a:r>
            <a:r>
              <a:rPr dirty="0" sz="1100" spc="-45">
                <a:latin typeface="Arial Black"/>
                <a:cs typeface="Arial Black"/>
              </a:rPr>
              <a:t> </a:t>
            </a:r>
            <a:r>
              <a:rPr dirty="0" sz="1100" spc="-65">
                <a:latin typeface="Arial Black"/>
                <a:cs typeface="Arial Black"/>
              </a:rPr>
              <a:t>Solution:</a:t>
            </a:r>
            <a:r>
              <a:rPr dirty="0" sz="1100" spc="-45">
                <a:latin typeface="Arial Black"/>
                <a:cs typeface="Arial Black"/>
              </a:rPr>
              <a:t> </a:t>
            </a:r>
            <a:r>
              <a:rPr dirty="0" sz="1100" spc="-10">
                <a:latin typeface="Arial MT"/>
                <a:cs typeface="Arial MT"/>
              </a:rPr>
              <a:t>Focus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50">
                <a:latin typeface="Arial MT"/>
                <a:cs typeface="Arial MT"/>
              </a:rPr>
              <a:t>on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45">
                <a:latin typeface="Arial Black"/>
                <a:cs typeface="Arial Black"/>
              </a:rPr>
              <a:t>Warranty </a:t>
            </a:r>
            <a:r>
              <a:rPr dirty="0" sz="1100" spc="-55">
                <a:latin typeface="Arial Black"/>
                <a:cs typeface="Arial Black"/>
              </a:rPr>
              <a:t>and</a:t>
            </a:r>
            <a:r>
              <a:rPr dirty="0" sz="1100" spc="-45">
                <a:latin typeface="Arial Black"/>
                <a:cs typeface="Arial Black"/>
              </a:rPr>
              <a:t> </a:t>
            </a:r>
            <a:r>
              <a:rPr dirty="0" sz="1100" spc="-75">
                <a:latin typeface="Arial Black"/>
                <a:cs typeface="Arial Black"/>
              </a:rPr>
              <a:t>Aftersales</a:t>
            </a:r>
            <a:r>
              <a:rPr dirty="0" sz="1100" spc="-45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as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differentiator, </a:t>
            </a:r>
            <a:r>
              <a:rPr dirty="0" sz="1100" spc="60">
                <a:latin typeface="Arial MT"/>
                <a:cs typeface="Arial MT"/>
              </a:rPr>
              <a:t>not</a:t>
            </a:r>
            <a:r>
              <a:rPr dirty="0" sz="1100" spc="7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just</a:t>
            </a:r>
            <a:r>
              <a:rPr dirty="0" sz="1100" spc="7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price</a:t>
            </a:r>
            <a:r>
              <a:rPr dirty="0" sz="1100" spc="7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tag.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20"/>
              <a:t>Tab</a:t>
            </a:r>
            <a:r>
              <a:rPr dirty="0" spc="-220"/>
              <a:t> </a:t>
            </a:r>
            <a:r>
              <a:rPr dirty="0" spc="-500"/>
              <a:t>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175" y="1022095"/>
            <a:ext cx="5748020" cy="2534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0">
                <a:latin typeface="Arial Black"/>
                <a:cs typeface="Arial Black"/>
              </a:rPr>
              <a:t>Slide</a:t>
            </a:r>
            <a:r>
              <a:rPr dirty="0" sz="1300" spc="-80">
                <a:latin typeface="Arial Black"/>
                <a:cs typeface="Arial Black"/>
              </a:rPr>
              <a:t> </a:t>
            </a:r>
            <a:r>
              <a:rPr dirty="0" sz="1300" spc="-100">
                <a:latin typeface="Arial Black"/>
                <a:cs typeface="Arial Black"/>
              </a:rPr>
              <a:t>8: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60">
                <a:latin typeface="Arial Black"/>
                <a:cs typeface="Arial Black"/>
              </a:rPr>
              <a:t>Obaakran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80">
                <a:latin typeface="Arial Black"/>
                <a:cs typeface="Arial Black"/>
              </a:rPr>
              <a:t>Branch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>
                <a:latin typeface="Arial Black"/>
                <a:cs typeface="Arial Black"/>
              </a:rPr>
              <a:t>–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130">
                <a:latin typeface="Arial Black"/>
                <a:cs typeface="Arial Black"/>
              </a:rPr>
              <a:t>2026</a:t>
            </a:r>
            <a:r>
              <a:rPr dirty="0" sz="1300" spc="-80">
                <a:latin typeface="Arial Black"/>
                <a:cs typeface="Arial Black"/>
              </a:rPr>
              <a:t> </a:t>
            </a:r>
            <a:r>
              <a:rPr dirty="0" sz="1300" spc="-10">
                <a:latin typeface="Arial Black"/>
                <a:cs typeface="Arial Black"/>
              </a:rPr>
              <a:t>Strategy</a:t>
            </a:r>
            <a:endParaRPr sz="13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300">
              <a:latin typeface="Arial Black"/>
              <a:cs typeface="Arial Black"/>
            </a:endParaRPr>
          </a:p>
          <a:p>
            <a:pPr marL="22225">
              <a:lnSpc>
                <a:spcPct val="100000"/>
              </a:lnSpc>
              <a:spcBef>
                <a:spcPts val="5"/>
              </a:spcBef>
            </a:pPr>
            <a:r>
              <a:rPr dirty="0" sz="1100" spc="-10">
                <a:latin typeface="Arial Black"/>
                <a:cs typeface="Arial Black"/>
              </a:rPr>
              <a:t>Content:</a:t>
            </a:r>
            <a:endParaRPr sz="1100">
              <a:latin typeface="Arial Black"/>
              <a:cs typeface="Arial Black"/>
            </a:endParaRPr>
          </a:p>
          <a:p>
            <a:pPr marL="479425" marR="5080" indent="-228600">
              <a:lnSpc>
                <a:spcPct val="147700"/>
              </a:lnSpc>
              <a:spcBef>
                <a:spcPts val="1225"/>
              </a:spcBef>
              <a:buFont typeface="Tahoma"/>
              <a:buChar char="●"/>
              <a:tabLst>
                <a:tab pos="479425" algn="l"/>
              </a:tabLst>
            </a:pPr>
            <a:r>
              <a:rPr dirty="0" sz="1100" spc="-120">
                <a:latin typeface="Arial Black"/>
                <a:cs typeface="Arial Black"/>
              </a:rPr>
              <a:t>2026</a:t>
            </a:r>
            <a:r>
              <a:rPr dirty="0" sz="1100" spc="-40">
                <a:latin typeface="Arial Black"/>
                <a:cs typeface="Arial Black"/>
              </a:rPr>
              <a:t> </a:t>
            </a:r>
            <a:r>
              <a:rPr dirty="0" sz="1100" spc="-80">
                <a:latin typeface="Arial Black"/>
                <a:cs typeface="Arial Black"/>
              </a:rPr>
              <a:t>Strategy:</a:t>
            </a:r>
            <a:r>
              <a:rPr dirty="0" sz="1100" spc="-35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"The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Flagship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Experience."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Create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dedicated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zones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65">
                <a:latin typeface="Arial MT"/>
                <a:cs typeface="Arial MT"/>
              </a:rPr>
              <a:t>for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Canon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and </a:t>
            </a:r>
            <a:r>
              <a:rPr dirty="0" sz="1100">
                <a:latin typeface="Arial MT"/>
                <a:cs typeface="Arial MT"/>
              </a:rPr>
              <a:t>Enterprise</a:t>
            </a:r>
            <a:r>
              <a:rPr dirty="0" sz="1100" spc="17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Solutions.</a:t>
            </a:r>
            <a:endParaRPr sz="1100">
              <a:latin typeface="Arial MT"/>
              <a:cs typeface="Arial MT"/>
            </a:endParaRPr>
          </a:p>
          <a:p>
            <a:pPr marL="478790" indent="-227965">
              <a:lnSpc>
                <a:spcPct val="100000"/>
              </a:lnSpc>
              <a:spcBef>
                <a:spcPts val="630"/>
              </a:spcBef>
              <a:buFont typeface="Tahoma"/>
              <a:buChar char="●"/>
              <a:tabLst>
                <a:tab pos="478790" algn="l"/>
              </a:tabLst>
            </a:pPr>
            <a:r>
              <a:rPr dirty="0" sz="1100" spc="-10">
                <a:latin typeface="Arial Black"/>
                <a:cs typeface="Arial Black"/>
              </a:rPr>
              <a:t>KPIs:</a:t>
            </a:r>
            <a:endParaRPr sz="1100">
              <a:latin typeface="Arial Black"/>
              <a:cs typeface="Arial Black"/>
            </a:endParaRPr>
          </a:p>
          <a:p>
            <a:pPr lvl="1" marL="935990" indent="-227965">
              <a:lnSpc>
                <a:spcPct val="100000"/>
              </a:lnSpc>
              <a:spcBef>
                <a:spcPts val="630"/>
              </a:spcBef>
              <a:buFont typeface="Tahoma"/>
              <a:buChar char="○"/>
              <a:tabLst>
                <a:tab pos="935990" algn="l"/>
              </a:tabLst>
            </a:pPr>
            <a:r>
              <a:rPr dirty="0" sz="1100" spc="-75">
                <a:latin typeface="Arial Black"/>
                <a:cs typeface="Arial Black"/>
              </a:rPr>
              <a:t>Items</a:t>
            </a:r>
            <a:r>
              <a:rPr dirty="0" sz="1100" spc="-65">
                <a:latin typeface="Arial Black"/>
                <a:cs typeface="Arial Black"/>
              </a:rPr>
              <a:t> </a:t>
            </a:r>
            <a:r>
              <a:rPr dirty="0" sz="1100" spc="-75">
                <a:latin typeface="Arial Black"/>
                <a:cs typeface="Arial Black"/>
              </a:rPr>
              <a:t>Per</a:t>
            </a:r>
            <a:r>
              <a:rPr dirty="0" sz="1100" spc="-60">
                <a:latin typeface="Arial Black"/>
                <a:cs typeface="Arial Black"/>
              </a:rPr>
              <a:t> </a:t>
            </a:r>
            <a:r>
              <a:rPr dirty="0" sz="1100" spc="-85">
                <a:latin typeface="Arial Black"/>
                <a:cs typeface="Arial Black"/>
              </a:rPr>
              <a:t>Basket:</a:t>
            </a:r>
            <a:r>
              <a:rPr dirty="0" sz="1100" spc="-60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Target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2.1 (Up </a:t>
            </a:r>
            <a:r>
              <a:rPr dirty="0" sz="1100" spc="70">
                <a:latin typeface="Arial MT"/>
                <a:cs typeface="Arial MT"/>
              </a:rPr>
              <a:t>from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1.3).</a:t>
            </a:r>
            <a:endParaRPr sz="1100">
              <a:latin typeface="Arial MT"/>
              <a:cs typeface="Arial MT"/>
            </a:endParaRPr>
          </a:p>
          <a:p>
            <a:pPr lvl="1" marL="935990" indent="-227965">
              <a:lnSpc>
                <a:spcPct val="100000"/>
              </a:lnSpc>
              <a:spcBef>
                <a:spcPts val="630"/>
              </a:spcBef>
              <a:buFont typeface="Tahoma"/>
              <a:buChar char="○"/>
              <a:tabLst>
                <a:tab pos="935990" algn="l"/>
              </a:tabLst>
            </a:pPr>
            <a:r>
              <a:rPr dirty="0" sz="1100" spc="-120">
                <a:latin typeface="Arial Black"/>
                <a:cs typeface="Arial Black"/>
              </a:rPr>
              <a:t>NPS</a:t>
            </a:r>
            <a:r>
              <a:rPr dirty="0" sz="1100" spc="-35">
                <a:latin typeface="Arial Black"/>
                <a:cs typeface="Arial Black"/>
              </a:rPr>
              <a:t> </a:t>
            </a:r>
            <a:r>
              <a:rPr dirty="0" sz="1100" spc="-70">
                <a:latin typeface="Arial Black"/>
                <a:cs typeface="Arial Black"/>
              </a:rPr>
              <a:t>(Customer</a:t>
            </a:r>
            <a:r>
              <a:rPr dirty="0" sz="1100" spc="-35">
                <a:latin typeface="Arial Black"/>
                <a:cs typeface="Arial Black"/>
              </a:rPr>
              <a:t> </a:t>
            </a:r>
            <a:r>
              <a:rPr dirty="0" sz="1100" spc="-75">
                <a:latin typeface="Arial Black"/>
                <a:cs typeface="Arial Black"/>
              </a:rPr>
              <a:t>Satisfaction):</a:t>
            </a:r>
            <a:r>
              <a:rPr dirty="0" sz="1100" spc="-35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Target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90%.</a:t>
            </a:r>
            <a:endParaRPr sz="1100">
              <a:latin typeface="Arial MT"/>
              <a:cs typeface="Arial MT"/>
            </a:endParaRPr>
          </a:p>
          <a:p>
            <a:pPr marL="478790" indent="-227965">
              <a:lnSpc>
                <a:spcPct val="100000"/>
              </a:lnSpc>
              <a:spcBef>
                <a:spcPts val="630"/>
              </a:spcBef>
              <a:buFont typeface="Tahoma"/>
              <a:buChar char="●"/>
              <a:tabLst>
                <a:tab pos="478790" algn="l"/>
              </a:tabLst>
            </a:pPr>
            <a:r>
              <a:rPr dirty="0" sz="1100" spc="-95">
                <a:latin typeface="Arial Black"/>
                <a:cs typeface="Arial Black"/>
              </a:rPr>
              <a:t>Resource</a:t>
            </a:r>
            <a:r>
              <a:rPr dirty="0" sz="1100" spc="-30">
                <a:latin typeface="Arial Black"/>
                <a:cs typeface="Arial Black"/>
              </a:rPr>
              <a:t> </a:t>
            </a:r>
            <a:r>
              <a:rPr dirty="0" sz="1100" spc="-80">
                <a:latin typeface="Arial Black"/>
                <a:cs typeface="Arial Black"/>
              </a:rPr>
              <a:t>Needs:</a:t>
            </a:r>
            <a:r>
              <a:rPr dirty="0" sz="1100" spc="-30">
                <a:latin typeface="Arial Black"/>
                <a:cs typeface="Arial Black"/>
              </a:rPr>
              <a:t> </a:t>
            </a:r>
            <a:r>
              <a:rPr dirty="0" sz="1100" spc="175">
                <a:latin typeface="Arial MT"/>
                <a:cs typeface="Arial MT"/>
              </a:rPr>
              <a:t>*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Handheld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POS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systems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65">
                <a:latin typeface="Arial MT"/>
                <a:cs typeface="Arial MT"/>
              </a:rPr>
              <a:t>for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"Fast-</a:t>
            </a:r>
            <a:r>
              <a:rPr dirty="0" sz="1100">
                <a:latin typeface="Arial MT"/>
                <a:cs typeface="Arial MT"/>
              </a:rPr>
              <a:t>Lane"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50">
                <a:latin typeface="Arial MT"/>
                <a:cs typeface="Arial MT"/>
              </a:rPr>
              <a:t>ink/toner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checkout.</a:t>
            </a:r>
            <a:endParaRPr sz="1100">
              <a:latin typeface="Arial MT"/>
              <a:cs typeface="Arial MT"/>
            </a:endParaRPr>
          </a:p>
          <a:p>
            <a:pPr lvl="1" marL="935990" indent="-227965">
              <a:lnSpc>
                <a:spcPct val="100000"/>
              </a:lnSpc>
              <a:spcBef>
                <a:spcPts val="630"/>
              </a:spcBef>
              <a:buFont typeface="Tahoma"/>
              <a:buChar char="○"/>
              <a:tabLst>
                <a:tab pos="935990" algn="l"/>
              </a:tabLst>
            </a:pPr>
            <a:r>
              <a:rPr dirty="0" sz="1100">
                <a:latin typeface="Arial MT"/>
                <a:cs typeface="Arial MT"/>
              </a:rPr>
              <a:t>2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"Tech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Brand</a:t>
            </a:r>
            <a:r>
              <a:rPr dirty="0" sz="1100" spc="5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Ambassadors"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 spc="65">
                <a:latin typeface="Arial MT"/>
                <a:cs typeface="Arial MT"/>
              </a:rPr>
              <a:t>for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5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Canon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Experience</a:t>
            </a:r>
            <a:r>
              <a:rPr dirty="0" sz="1100" spc="5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Desk.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20"/>
              <a:t>Tab</a:t>
            </a:r>
            <a:r>
              <a:rPr dirty="0" spc="-220"/>
              <a:t> </a:t>
            </a:r>
            <a:r>
              <a:rPr dirty="0" spc="-500"/>
              <a:t>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175" y="1022095"/>
            <a:ext cx="5827395" cy="2286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0">
                <a:latin typeface="Arial Black"/>
                <a:cs typeface="Arial Black"/>
              </a:rPr>
              <a:t>Slide</a:t>
            </a:r>
            <a:r>
              <a:rPr dirty="0" sz="1300" spc="-80">
                <a:latin typeface="Arial Black"/>
                <a:cs typeface="Arial Black"/>
              </a:rPr>
              <a:t> </a:t>
            </a:r>
            <a:r>
              <a:rPr dirty="0" sz="1300" spc="-100">
                <a:latin typeface="Arial Black"/>
                <a:cs typeface="Arial Black"/>
              </a:rPr>
              <a:t>9:</a:t>
            </a:r>
            <a:r>
              <a:rPr dirty="0" sz="1300" spc="-80">
                <a:latin typeface="Arial Black"/>
                <a:cs typeface="Arial Black"/>
              </a:rPr>
              <a:t> </a:t>
            </a:r>
            <a:r>
              <a:rPr dirty="0" sz="1300" spc="-65">
                <a:latin typeface="Arial Black"/>
                <a:cs typeface="Arial Black"/>
              </a:rPr>
              <a:t>Growth</a:t>
            </a:r>
            <a:r>
              <a:rPr dirty="0" sz="1300" spc="-75">
                <a:latin typeface="Arial Black"/>
                <a:cs typeface="Arial Black"/>
              </a:rPr>
              <a:t> Spotlight</a:t>
            </a:r>
            <a:r>
              <a:rPr dirty="0" sz="1300" spc="-80">
                <a:latin typeface="Arial Black"/>
                <a:cs typeface="Arial Black"/>
              </a:rPr>
              <a:t> </a:t>
            </a:r>
            <a:r>
              <a:rPr dirty="0" sz="1300">
                <a:latin typeface="Arial Black"/>
                <a:cs typeface="Arial Black"/>
              </a:rPr>
              <a:t>–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105">
                <a:latin typeface="Arial Black"/>
                <a:cs typeface="Arial Black"/>
              </a:rPr>
              <a:t>The</a:t>
            </a:r>
            <a:r>
              <a:rPr dirty="0" sz="1300" spc="-80">
                <a:latin typeface="Arial Black"/>
                <a:cs typeface="Arial Black"/>
              </a:rPr>
              <a:t> </a:t>
            </a:r>
            <a:r>
              <a:rPr dirty="0" sz="1300" spc="-85">
                <a:latin typeface="Arial Black"/>
                <a:cs typeface="Arial Black"/>
              </a:rPr>
              <a:t>Adepele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10">
                <a:latin typeface="Arial Black"/>
                <a:cs typeface="Arial Black"/>
              </a:rPr>
              <a:t>Blueprint</a:t>
            </a:r>
            <a:endParaRPr sz="13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300">
              <a:latin typeface="Arial Black"/>
              <a:cs typeface="Arial Black"/>
            </a:endParaRPr>
          </a:p>
          <a:p>
            <a:pPr marL="22225">
              <a:lnSpc>
                <a:spcPct val="100000"/>
              </a:lnSpc>
              <a:spcBef>
                <a:spcPts val="5"/>
              </a:spcBef>
            </a:pPr>
            <a:r>
              <a:rPr dirty="0" sz="1100" spc="-60">
                <a:latin typeface="Arial Black"/>
                <a:cs typeface="Arial Black"/>
              </a:rPr>
              <a:t>Content:</a:t>
            </a:r>
            <a:r>
              <a:rPr dirty="0" sz="1100" spc="-65">
                <a:latin typeface="Arial Black"/>
                <a:cs typeface="Arial Black"/>
              </a:rPr>
              <a:t> </a:t>
            </a:r>
            <a:r>
              <a:rPr dirty="0" sz="1100" spc="-20" i="1">
                <a:latin typeface="Arial"/>
                <a:cs typeface="Arial"/>
              </a:rPr>
              <a:t>How</a:t>
            </a:r>
            <a:r>
              <a:rPr dirty="0" sz="1100" i="1">
                <a:latin typeface="Arial"/>
                <a:cs typeface="Arial"/>
              </a:rPr>
              <a:t> did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 spc="-50" i="1">
                <a:latin typeface="Arial"/>
                <a:cs typeface="Arial"/>
              </a:rPr>
              <a:t>Adepele</a:t>
            </a:r>
            <a:r>
              <a:rPr dirty="0" sz="1100" i="1">
                <a:latin typeface="Arial"/>
                <a:cs typeface="Arial"/>
              </a:rPr>
              <a:t> grow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 spc="-35" i="1">
                <a:latin typeface="Arial"/>
                <a:cs typeface="Arial"/>
              </a:rPr>
              <a:t>61.7%</a:t>
            </a:r>
            <a:r>
              <a:rPr dirty="0" sz="1100" i="1">
                <a:latin typeface="Arial"/>
                <a:cs typeface="Arial"/>
              </a:rPr>
              <a:t> in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Printers?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100">
              <a:latin typeface="Arial"/>
              <a:cs typeface="Arial"/>
            </a:endParaRPr>
          </a:p>
          <a:p>
            <a:pPr marL="476250" indent="-225425">
              <a:lnSpc>
                <a:spcPct val="100000"/>
              </a:lnSpc>
              <a:spcBef>
                <a:spcPts val="5"/>
              </a:spcBef>
              <a:buFont typeface="Arial MT"/>
              <a:buAutoNum type="arabicPeriod"/>
              <a:tabLst>
                <a:tab pos="476250" algn="l"/>
              </a:tabLst>
            </a:pPr>
            <a:r>
              <a:rPr dirty="0" sz="1100" spc="-110">
                <a:latin typeface="Arial Black"/>
                <a:cs typeface="Arial Black"/>
              </a:rPr>
              <a:t>Stock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 spc="-60">
                <a:latin typeface="Arial Black"/>
                <a:cs typeface="Arial Black"/>
              </a:rPr>
              <a:t>Availability: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Maintained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95%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"In-Stock"</a:t>
            </a:r>
            <a:r>
              <a:rPr dirty="0" sz="1100" spc="9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rate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 spc="50">
                <a:latin typeface="Arial MT"/>
                <a:cs typeface="Arial MT"/>
              </a:rPr>
              <a:t>on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high-demand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MFP</a:t>
            </a:r>
            <a:r>
              <a:rPr dirty="0" sz="1100" spc="9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units.</a:t>
            </a:r>
            <a:endParaRPr sz="1100">
              <a:latin typeface="Arial MT"/>
              <a:cs typeface="Arial MT"/>
            </a:endParaRPr>
          </a:p>
          <a:p>
            <a:pPr marL="476250" marR="239395" indent="-225425">
              <a:lnSpc>
                <a:spcPct val="147700"/>
              </a:lnSpc>
              <a:buFont typeface="Arial MT"/>
              <a:buAutoNum type="arabicPeriod"/>
              <a:tabLst>
                <a:tab pos="479425" algn="l"/>
              </a:tabLst>
            </a:pPr>
            <a:r>
              <a:rPr dirty="0" sz="1100" spc="-125">
                <a:latin typeface="Arial Black"/>
                <a:cs typeface="Arial Black"/>
              </a:rPr>
              <a:t>B2B</a:t>
            </a:r>
            <a:r>
              <a:rPr dirty="0" sz="1100" spc="20">
                <a:latin typeface="Arial Black"/>
                <a:cs typeface="Arial Black"/>
              </a:rPr>
              <a:t> </a:t>
            </a:r>
            <a:r>
              <a:rPr dirty="0" sz="1100" spc="-55">
                <a:latin typeface="Arial Black"/>
                <a:cs typeface="Arial Black"/>
              </a:rPr>
              <a:t>Integration:</a:t>
            </a:r>
            <a:r>
              <a:rPr dirty="0" sz="1100" spc="20">
                <a:latin typeface="Arial Black"/>
                <a:cs typeface="Arial Black"/>
              </a:rPr>
              <a:t> </a:t>
            </a:r>
            <a:r>
              <a:rPr dirty="0" sz="1100" spc="-10">
                <a:latin typeface="Arial MT"/>
                <a:cs typeface="Arial MT"/>
              </a:rPr>
              <a:t>Aggressive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prospecting</a:t>
            </a:r>
            <a:r>
              <a:rPr dirty="0" sz="1100" spc="85">
                <a:latin typeface="Arial MT"/>
                <a:cs typeface="Arial MT"/>
              </a:rPr>
              <a:t> </a:t>
            </a:r>
            <a:r>
              <a:rPr dirty="0" sz="1100" spc="55">
                <a:latin typeface="Arial MT"/>
                <a:cs typeface="Arial MT"/>
              </a:rPr>
              <a:t>of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local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businesses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within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branch 	radius.</a:t>
            </a:r>
            <a:endParaRPr sz="1100">
              <a:latin typeface="Arial MT"/>
              <a:cs typeface="Arial MT"/>
            </a:endParaRPr>
          </a:p>
          <a:p>
            <a:pPr marL="476250" marR="5080" indent="-225425">
              <a:lnSpc>
                <a:spcPct val="147700"/>
              </a:lnSpc>
              <a:buFont typeface="Arial MT"/>
              <a:buAutoNum type="arabicPeriod"/>
              <a:tabLst>
                <a:tab pos="479425" algn="l"/>
              </a:tabLst>
            </a:pPr>
            <a:r>
              <a:rPr dirty="0" sz="1100" spc="-100">
                <a:latin typeface="Arial Black"/>
                <a:cs typeface="Arial Black"/>
              </a:rPr>
              <a:t>The</a:t>
            </a:r>
            <a:r>
              <a:rPr dirty="0" sz="1100" spc="60">
                <a:latin typeface="Arial Black"/>
                <a:cs typeface="Arial Black"/>
              </a:rPr>
              <a:t> </a:t>
            </a:r>
            <a:r>
              <a:rPr dirty="0" sz="1100" spc="-50">
                <a:latin typeface="Arial Black"/>
                <a:cs typeface="Arial Black"/>
              </a:rPr>
              <a:t>"One-</a:t>
            </a:r>
            <a:r>
              <a:rPr dirty="0" sz="1100" spc="-80">
                <a:latin typeface="Arial Black"/>
                <a:cs typeface="Arial Black"/>
              </a:rPr>
              <a:t>Stop"</a:t>
            </a:r>
            <a:r>
              <a:rPr dirty="0" sz="1100" spc="65">
                <a:latin typeface="Arial Black"/>
                <a:cs typeface="Arial Black"/>
              </a:rPr>
              <a:t> </a:t>
            </a:r>
            <a:r>
              <a:rPr dirty="0" sz="1100" spc="-65">
                <a:latin typeface="Arial Black"/>
                <a:cs typeface="Arial Black"/>
              </a:rPr>
              <a:t>Bundle:</a:t>
            </a:r>
            <a:r>
              <a:rPr dirty="0" sz="1100" spc="65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Mandatory</a:t>
            </a:r>
            <a:r>
              <a:rPr dirty="0" sz="1100" spc="1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sales</a:t>
            </a:r>
            <a:r>
              <a:rPr dirty="0" sz="1100" spc="1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training</a:t>
            </a:r>
            <a:r>
              <a:rPr dirty="0" sz="1100" spc="125">
                <a:latin typeface="Arial MT"/>
                <a:cs typeface="Arial MT"/>
              </a:rPr>
              <a:t> </a:t>
            </a:r>
            <a:r>
              <a:rPr dirty="0" sz="1100" spc="50">
                <a:latin typeface="Arial MT"/>
                <a:cs typeface="Arial MT"/>
              </a:rPr>
              <a:t>on</a:t>
            </a:r>
            <a:r>
              <a:rPr dirty="0" sz="1100" spc="1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bundling</a:t>
            </a:r>
            <a:r>
              <a:rPr dirty="0" sz="1100" spc="1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toners</a:t>
            </a:r>
            <a:r>
              <a:rPr dirty="0" sz="1100" spc="120">
                <a:latin typeface="Arial MT"/>
                <a:cs typeface="Arial MT"/>
              </a:rPr>
              <a:t> </a:t>
            </a:r>
            <a:r>
              <a:rPr dirty="0" sz="1100" spc="30">
                <a:latin typeface="Arial MT"/>
                <a:cs typeface="Arial MT"/>
              </a:rPr>
              <a:t>with </a:t>
            </a:r>
            <a:r>
              <a:rPr dirty="0" sz="1100" spc="30">
                <a:latin typeface="Arial MT"/>
                <a:cs typeface="Arial MT"/>
              </a:rPr>
              <a:t>	</a:t>
            </a:r>
            <a:r>
              <a:rPr dirty="0" sz="1100">
                <a:latin typeface="Arial MT"/>
                <a:cs typeface="Arial MT"/>
              </a:rPr>
              <a:t>hardware.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 spc="-75">
                <a:latin typeface="Arial Black"/>
                <a:cs typeface="Arial Black"/>
              </a:rPr>
              <a:t>Action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65">
                <a:latin typeface="Arial Black"/>
                <a:cs typeface="Arial Black"/>
              </a:rPr>
              <a:t>Plan: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Implement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"Adepele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Bundle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Script"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across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all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 spc="50">
                <a:latin typeface="Arial MT"/>
                <a:cs typeface="Arial MT"/>
              </a:rPr>
              <a:t>other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14 </a:t>
            </a:r>
            <a:r>
              <a:rPr dirty="0" sz="1100" spc="-25">
                <a:latin typeface="Arial MT"/>
                <a:cs typeface="Arial MT"/>
              </a:rPr>
              <a:t>	</a:t>
            </a:r>
            <a:r>
              <a:rPr dirty="0" sz="1100">
                <a:latin typeface="Arial MT"/>
                <a:cs typeface="Arial MT"/>
              </a:rPr>
              <a:t>branches</a:t>
            </a:r>
            <a:r>
              <a:rPr dirty="0" sz="1100" spc="5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by</a:t>
            </a:r>
            <a:r>
              <a:rPr dirty="0" sz="1100" spc="5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Q1</a:t>
            </a:r>
            <a:r>
              <a:rPr dirty="0" sz="1100" spc="5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2026.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20"/>
              <a:t>Tab</a:t>
            </a:r>
            <a:r>
              <a:rPr dirty="0" spc="-220"/>
              <a:t> </a:t>
            </a:r>
            <a:r>
              <a:rPr dirty="0" spc="-500"/>
              <a:t>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175" y="1022095"/>
            <a:ext cx="5302250" cy="2534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0">
                <a:latin typeface="Arial Black"/>
                <a:cs typeface="Arial Black"/>
              </a:rPr>
              <a:t>Slide</a:t>
            </a:r>
            <a:r>
              <a:rPr dirty="0" sz="1300" spc="-80">
                <a:latin typeface="Arial Black"/>
                <a:cs typeface="Arial Black"/>
              </a:rPr>
              <a:t> </a:t>
            </a:r>
            <a:r>
              <a:rPr dirty="0" sz="1300" spc="-110">
                <a:latin typeface="Arial Black"/>
                <a:cs typeface="Arial Black"/>
              </a:rPr>
              <a:t>10: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90">
                <a:latin typeface="Arial Black"/>
                <a:cs typeface="Arial Black"/>
              </a:rPr>
              <a:t>Conclusion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190">
                <a:latin typeface="Arial Black"/>
                <a:cs typeface="Arial Black"/>
              </a:rPr>
              <a:t>&amp;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100">
                <a:latin typeface="Arial Black"/>
                <a:cs typeface="Arial Black"/>
              </a:rPr>
              <a:t>Call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40">
                <a:latin typeface="Arial Black"/>
                <a:cs typeface="Arial Black"/>
              </a:rPr>
              <a:t>to</a:t>
            </a:r>
            <a:r>
              <a:rPr dirty="0" sz="1300" spc="-80">
                <a:latin typeface="Arial Black"/>
                <a:cs typeface="Arial Black"/>
              </a:rPr>
              <a:t> </a:t>
            </a:r>
            <a:r>
              <a:rPr dirty="0" sz="1300" spc="-10">
                <a:latin typeface="Arial Black"/>
                <a:cs typeface="Arial Black"/>
              </a:rPr>
              <a:t>Action</a:t>
            </a:r>
            <a:endParaRPr sz="13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300">
              <a:latin typeface="Arial Black"/>
              <a:cs typeface="Arial Black"/>
            </a:endParaRPr>
          </a:p>
          <a:p>
            <a:pPr marL="22225">
              <a:lnSpc>
                <a:spcPct val="100000"/>
              </a:lnSpc>
              <a:spcBef>
                <a:spcPts val="5"/>
              </a:spcBef>
            </a:pPr>
            <a:r>
              <a:rPr dirty="0" sz="1100" spc="-10">
                <a:latin typeface="Arial Black"/>
                <a:cs typeface="Arial Black"/>
              </a:rPr>
              <a:t>Content:</a:t>
            </a:r>
            <a:endParaRPr sz="11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100">
              <a:latin typeface="Arial Black"/>
              <a:cs typeface="Arial Black"/>
            </a:endParaRPr>
          </a:p>
          <a:p>
            <a:pPr marL="478790" indent="-227965">
              <a:lnSpc>
                <a:spcPct val="100000"/>
              </a:lnSpc>
              <a:buFont typeface="Tahoma"/>
              <a:buChar char="●"/>
              <a:tabLst>
                <a:tab pos="478790" algn="l"/>
              </a:tabLst>
            </a:pPr>
            <a:r>
              <a:rPr dirty="0" sz="1100" spc="-65">
                <a:latin typeface="Arial Black"/>
                <a:cs typeface="Arial Black"/>
              </a:rPr>
              <a:t>Summary:</a:t>
            </a:r>
            <a:r>
              <a:rPr dirty="0" sz="1100" spc="-15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Our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data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shows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 spc="55">
                <a:latin typeface="Arial MT"/>
                <a:cs typeface="Arial MT"/>
              </a:rPr>
              <a:t>that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 spc="-70">
                <a:latin typeface="Arial Black"/>
                <a:cs typeface="Arial Black"/>
              </a:rPr>
              <a:t>Loyalty</a:t>
            </a:r>
            <a:r>
              <a:rPr dirty="0" sz="1100" spc="-15">
                <a:latin typeface="Arial Black"/>
                <a:cs typeface="Arial Black"/>
              </a:rPr>
              <a:t> </a:t>
            </a:r>
            <a:r>
              <a:rPr dirty="0" sz="1100" spc="-80">
                <a:latin typeface="Arial Black"/>
                <a:cs typeface="Arial Black"/>
              </a:rPr>
              <a:t>(Consumables)</a:t>
            </a:r>
            <a:r>
              <a:rPr dirty="0" sz="1100" spc="-15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 spc="40">
                <a:latin typeface="Arial MT"/>
                <a:cs typeface="Arial MT"/>
              </a:rPr>
              <a:t>outperforming</a:t>
            </a:r>
            <a:endParaRPr sz="1100">
              <a:latin typeface="Arial MT"/>
              <a:cs typeface="Arial MT"/>
            </a:endParaRPr>
          </a:p>
          <a:p>
            <a:pPr marL="479425">
              <a:lnSpc>
                <a:spcPct val="100000"/>
              </a:lnSpc>
              <a:spcBef>
                <a:spcPts val="630"/>
              </a:spcBef>
            </a:pPr>
            <a:r>
              <a:rPr dirty="0" sz="1100" spc="-85">
                <a:latin typeface="Arial Black"/>
                <a:cs typeface="Arial Black"/>
              </a:rPr>
              <a:t>Transactions</a:t>
            </a:r>
            <a:r>
              <a:rPr dirty="0" sz="1100" spc="5">
                <a:latin typeface="Arial Black"/>
                <a:cs typeface="Arial Black"/>
              </a:rPr>
              <a:t> </a:t>
            </a:r>
            <a:r>
              <a:rPr dirty="0" sz="1100" spc="-10">
                <a:latin typeface="Arial Black"/>
                <a:cs typeface="Arial Black"/>
              </a:rPr>
              <a:t>(Hardware)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478790" indent="-227965">
              <a:lnSpc>
                <a:spcPct val="100000"/>
              </a:lnSpc>
              <a:spcBef>
                <a:spcPts val="630"/>
              </a:spcBef>
              <a:buFont typeface="Tahoma"/>
              <a:buChar char="●"/>
              <a:tabLst>
                <a:tab pos="478790" algn="l"/>
              </a:tabLst>
            </a:pPr>
            <a:r>
              <a:rPr dirty="0" sz="1100" spc="-65">
                <a:latin typeface="Arial Black"/>
                <a:cs typeface="Arial Black"/>
              </a:rPr>
              <a:t>Next </a:t>
            </a:r>
            <a:r>
              <a:rPr dirty="0" sz="1100" spc="-10">
                <a:latin typeface="Arial Black"/>
                <a:cs typeface="Arial Black"/>
              </a:rPr>
              <a:t>Steps:</a:t>
            </a:r>
            <a:endParaRPr sz="1100">
              <a:latin typeface="Arial Black"/>
              <a:cs typeface="Arial Black"/>
            </a:endParaRPr>
          </a:p>
          <a:p>
            <a:pPr lvl="1" marL="935990" indent="-227965">
              <a:lnSpc>
                <a:spcPct val="100000"/>
              </a:lnSpc>
              <a:spcBef>
                <a:spcPts val="630"/>
              </a:spcBef>
              <a:buFont typeface="Tahoma"/>
              <a:buChar char="○"/>
              <a:tabLst>
                <a:tab pos="935990" algn="l"/>
              </a:tabLst>
            </a:pPr>
            <a:r>
              <a:rPr dirty="0" sz="1100" spc="10">
                <a:latin typeface="Arial MT"/>
                <a:cs typeface="Arial MT"/>
              </a:rPr>
              <a:t>Approve</a:t>
            </a:r>
            <a:r>
              <a:rPr dirty="0" sz="1100" spc="90">
                <a:latin typeface="Arial MT"/>
                <a:cs typeface="Arial MT"/>
              </a:rPr>
              <a:t> </a:t>
            </a:r>
            <a:r>
              <a:rPr dirty="0" sz="1100" spc="10">
                <a:latin typeface="Arial MT"/>
                <a:cs typeface="Arial MT"/>
              </a:rPr>
              <a:t>the</a:t>
            </a:r>
            <a:r>
              <a:rPr dirty="0" sz="1100" spc="90">
                <a:latin typeface="Arial MT"/>
                <a:cs typeface="Arial MT"/>
              </a:rPr>
              <a:t> </a:t>
            </a:r>
            <a:r>
              <a:rPr dirty="0" sz="1100" spc="10">
                <a:latin typeface="Arial MT"/>
                <a:cs typeface="Arial MT"/>
              </a:rPr>
              <a:t>"Consumable</a:t>
            </a:r>
            <a:r>
              <a:rPr dirty="0" sz="1100" spc="90">
                <a:latin typeface="Arial MT"/>
                <a:cs typeface="Arial MT"/>
              </a:rPr>
              <a:t> </a:t>
            </a:r>
            <a:r>
              <a:rPr dirty="0" sz="1100" spc="10">
                <a:latin typeface="Arial MT"/>
                <a:cs typeface="Arial MT"/>
              </a:rPr>
              <a:t>First"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 spc="10">
                <a:latin typeface="Arial MT"/>
                <a:cs typeface="Arial MT"/>
              </a:rPr>
              <a:t>inventory</a:t>
            </a:r>
            <a:r>
              <a:rPr dirty="0" sz="1100" spc="9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budget.</a:t>
            </a:r>
            <a:endParaRPr sz="1100">
              <a:latin typeface="Arial MT"/>
              <a:cs typeface="Arial MT"/>
            </a:endParaRPr>
          </a:p>
          <a:p>
            <a:pPr lvl="1" marL="935990" indent="-227965">
              <a:lnSpc>
                <a:spcPct val="100000"/>
              </a:lnSpc>
              <a:spcBef>
                <a:spcPts val="630"/>
              </a:spcBef>
              <a:buFont typeface="Tahoma"/>
              <a:buChar char="○"/>
              <a:tabLst>
                <a:tab pos="935990" algn="l"/>
              </a:tabLst>
            </a:pPr>
            <a:r>
              <a:rPr dirty="0" sz="1100">
                <a:latin typeface="Arial MT"/>
                <a:cs typeface="Arial MT"/>
              </a:rPr>
              <a:t>Schedule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2026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Regional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Training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Workshop.</a:t>
            </a:r>
            <a:endParaRPr sz="1100">
              <a:latin typeface="Arial MT"/>
              <a:cs typeface="Arial MT"/>
            </a:endParaRPr>
          </a:p>
          <a:p>
            <a:pPr marL="478790" indent="-227965">
              <a:lnSpc>
                <a:spcPct val="100000"/>
              </a:lnSpc>
              <a:spcBef>
                <a:spcPts val="630"/>
              </a:spcBef>
              <a:buFont typeface="Tahoma"/>
              <a:buChar char="●"/>
              <a:tabLst>
                <a:tab pos="478790" algn="l"/>
              </a:tabLst>
            </a:pPr>
            <a:r>
              <a:rPr dirty="0" sz="1100" spc="-85">
                <a:latin typeface="Arial Black"/>
                <a:cs typeface="Arial Black"/>
              </a:rPr>
              <a:t>Closing</a:t>
            </a:r>
            <a:r>
              <a:rPr dirty="0" sz="1100" spc="5">
                <a:latin typeface="Arial Black"/>
                <a:cs typeface="Arial Black"/>
              </a:rPr>
              <a:t> </a:t>
            </a:r>
            <a:r>
              <a:rPr dirty="0" sz="1100" spc="-55">
                <a:latin typeface="Arial Black"/>
                <a:cs typeface="Arial Black"/>
              </a:rPr>
              <a:t>Quote:</a:t>
            </a:r>
            <a:r>
              <a:rPr dirty="0" sz="1100" spc="10">
                <a:latin typeface="Arial Black"/>
                <a:cs typeface="Arial Black"/>
              </a:rPr>
              <a:t> </a:t>
            </a:r>
            <a:r>
              <a:rPr dirty="0" sz="1100">
                <a:latin typeface="Arial MT"/>
                <a:cs typeface="Arial MT"/>
              </a:rPr>
              <a:t>"True</a:t>
            </a:r>
            <a:r>
              <a:rPr dirty="0" sz="1100" spc="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individual</a:t>
            </a:r>
            <a:r>
              <a:rPr dirty="0" sz="1100" spc="7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pride</a:t>
            </a:r>
            <a:r>
              <a:rPr dirty="0" sz="1100" spc="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7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seen</a:t>
            </a:r>
            <a:r>
              <a:rPr dirty="0" sz="1100" spc="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70">
                <a:latin typeface="Arial MT"/>
                <a:cs typeface="Arial MT"/>
              </a:rPr>
              <a:t> </a:t>
            </a:r>
            <a:r>
              <a:rPr dirty="0" sz="1100" spc="60">
                <a:latin typeface="Arial MT"/>
                <a:cs typeface="Arial MT"/>
              </a:rPr>
              <a:t>our</a:t>
            </a:r>
            <a:r>
              <a:rPr dirty="0" sz="1100" spc="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aftersales</a:t>
            </a:r>
            <a:r>
              <a:rPr dirty="0" sz="1100" spc="7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support."</a:t>
            </a:r>
            <a:endParaRPr sz="1100">
              <a:latin typeface="Arial MT"/>
              <a:cs typeface="Arial MT"/>
            </a:endParaRPr>
          </a:p>
          <a:p>
            <a:pPr marL="478790" indent="-227965">
              <a:lnSpc>
                <a:spcPct val="100000"/>
              </a:lnSpc>
              <a:spcBef>
                <a:spcPts val="630"/>
              </a:spcBef>
              <a:buFont typeface="Tahoma"/>
              <a:buChar char="●"/>
              <a:tabLst>
                <a:tab pos="478790" algn="l"/>
              </a:tabLst>
            </a:pPr>
            <a:r>
              <a:rPr dirty="0" sz="1100" spc="-105">
                <a:latin typeface="Arial Black"/>
                <a:cs typeface="Arial Black"/>
              </a:rPr>
              <a:t>Q&amp;A</a:t>
            </a:r>
            <a:r>
              <a:rPr dirty="0" sz="1100" spc="-80">
                <a:latin typeface="Arial Black"/>
                <a:cs typeface="Arial Black"/>
              </a:rPr>
              <a:t> </a:t>
            </a:r>
            <a:r>
              <a:rPr dirty="0" sz="1100" spc="-10">
                <a:latin typeface="Arial Black"/>
                <a:cs typeface="Arial Black"/>
              </a:rPr>
              <a:t>Session.</a:t>
            </a:r>
            <a:endParaRPr sz="11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</dc:title>
  <dcterms:created xsi:type="dcterms:W3CDTF">2026-01-19T21:28:41Z</dcterms:created>
  <dcterms:modified xsi:type="dcterms:W3CDTF">2026-01-19T21:28:41Z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2026-01-19T00:00:00Z</vt:filetime>
  </property>
  <property fmtid="{D5CDD505-2E9C-101B-9397-08002B2CF9AE}" pid="3" name="Producer">
    <vt:lpwstr>Skia/PDF m145 Google Docs Renderer</vt:lpwstr>
  </property>
  <property fmtid="{D5CDD505-2E9C-101B-9397-08002B2CF9AE}" pid="4" name="LastSaved">
    <vt:filetime>2026-01-19T00:00:00Z</vt:filetime>
  </property>
</Properties>
</file>